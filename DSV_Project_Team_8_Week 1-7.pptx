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8" r:id="rId6"/>
    <p:sldId id="260" r:id="rId7"/>
    <p:sldId id="262" r:id="rId8"/>
    <p:sldId id="264" r:id="rId9"/>
    <p:sldId id="261" r:id="rId10"/>
    <p:sldId id="263" r:id="rId11"/>
    <p:sldId id="267" r:id="rId12"/>
  </p:sldIdLst>
  <p:sldSz cx="18288000" cy="10287000"/>
  <p:notesSz cx="6858000" cy="9144000"/>
  <p:embeddedFontLst>
    <p:embeddedFont>
      <p:font typeface="Poppins" panose="00000500000000000000" pitchFamily="2" charset="0"/>
      <p:regular r:id="rId13"/>
      <p:bold r:id="rId14"/>
      <p:italic r:id="rId15"/>
    </p:embeddedFont>
    <p:embeddedFont>
      <p:font typeface="Poppins Bold" panose="00000800000000000000" charset="0"/>
      <p:regular r:id="rId16"/>
      <p:bold r:id="rId17"/>
    </p:embeddedFont>
    <p:embeddedFont>
      <p:font typeface="Poppins Bold Italic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F5CB7D-F697-ACB2-664D-D7E6AFCFB53F}" v="12" dt="2026-03-09T12:42:18.155"/>
    <p1510:client id="{51287185-4F37-FF56-C474-350C26ED8CC8}" v="326" dt="2026-03-09T12:41:48.936"/>
    <p1510:client id="{8B138E48-3DF8-0276-956E-60BF194BDDA8}" v="17" dt="2026-03-09T10:57:37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qeeq S 24BAD109" userId="S::shaqeeq.24ad@kct.ac.in::71df80c3-3251-4cde-b824-159bd162868f" providerId="AD" clId="Web-{39F5CB7D-F697-ACB2-664D-D7E6AFCFB53F}"/>
    <pc:docChg chg="modSld">
      <pc:chgData name="Shaqeeq S 24BAD109" userId="S::shaqeeq.24ad@kct.ac.in::71df80c3-3251-4cde-b824-159bd162868f" providerId="AD" clId="Web-{39F5CB7D-F697-ACB2-664D-D7E6AFCFB53F}" dt="2026-03-09T12:42:16.670" v="8" actId="20577"/>
      <pc:docMkLst>
        <pc:docMk/>
      </pc:docMkLst>
      <pc:sldChg chg="delSp modSp">
        <pc:chgData name="Shaqeeq S 24BAD109" userId="S::shaqeeq.24ad@kct.ac.in::71df80c3-3251-4cde-b824-159bd162868f" providerId="AD" clId="Web-{39F5CB7D-F697-ACB2-664D-D7E6AFCFB53F}" dt="2026-03-09T12:42:08.545" v="3"/>
        <pc:sldMkLst>
          <pc:docMk/>
          <pc:sldMk cId="0" sldId="256"/>
        </pc:sldMkLst>
        <pc:spChg chg="del mod">
          <ac:chgData name="Shaqeeq S 24BAD109" userId="S::shaqeeq.24ad@kct.ac.in::71df80c3-3251-4cde-b824-159bd162868f" providerId="AD" clId="Web-{39F5CB7D-F697-ACB2-664D-D7E6AFCFB53F}" dt="2026-03-09T12:42:08.545" v="3"/>
          <ac:spMkLst>
            <pc:docMk/>
            <pc:sldMk cId="0" sldId="256"/>
            <ac:spMk id="7" creationId="{00000000-0000-0000-0000-000000000000}"/>
          </ac:spMkLst>
        </pc:spChg>
      </pc:sldChg>
      <pc:sldChg chg="delSp modSp">
        <pc:chgData name="Shaqeeq S 24BAD109" userId="S::shaqeeq.24ad@kct.ac.in::71df80c3-3251-4cde-b824-159bd162868f" providerId="AD" clId="Web-{39F5CB7D-F697-ACB2-664D-D7E6AFCFB53F}" dt="2026-03-09T12:42:13.733" v="6"/>
        <pc:sldMkLst>
          <pc:docMk/>
          <pc:sldMk cId="0" sldId="257"/>
        </pc:sldMkLst>
        <pc:spChg chg="del mod">
          <ac:chgData name="Shaqeeq S 24BAD109" userId="S::shaqeeq.24ad@kct.ac.in::71df80c3-3251-4cde-b824-159bd162868f" providerId="AD" clId="Web-{39F5CB7D-F697-ACB2-664D-D7E6AFCFB53F}" dt="2026-03-09T12:42:13.733" v="6"/>
          <ac:spMkLst>
            <pc:docMk/>
            <pc:sldMk cId="0" sldId="257"/>
            <ac:spMk id="6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39F5CB7D-F697-ACB2-664D-D7E6AFCFB53F}" dt="2026-03-09T12:42:16.670" v="8" actId="20577"/>
        <pc:sldMkLst>
          <pc:docMk/>
          <pc:sldMk cId="0" sldId="258"/>
        </pc:sldMkLst>
        <pc:spChg chg="mod">
          <ac:chgData name="Shaqeeq S 24BAD109" userId="S::shaqeeq.24ad@kct.ac.in::71df80c3-3251-4cde-b824-159bd162868f" providerId="AD" clId="Web-{39F5CB7D-F697-ACB2-664D-D7E6AFCFB53F}" dt="2026-03-09T12:42:16.670" v="8" actId="20577"/>
          <ac:spMkLst>
            <pc:docMk/>
            <pc:sldMk cId="0" sldId="258"/>
            <ac:spMk id="6" creationId="{00000000-0000-0000-0000-000000000000}"/>
          </ac:spMkLst>
        </pc:spChg>
      </pc:sldChg>
    </pc:docChg>
  </pc:docChgLst>
  <pc:docChgLst>
    <pc:chgData name="Shaqeeq S 24BAD109" userId="S::shaqeeq.24ad@kct.ac.in::71df80c3-3251-4cde-b824-159bd162868f" providerId="AD" clId="Web-{51287185-4F37-FF56-C474-350C26ED8CC8}"/>
    <pc:docChg chg="modSld">
      <pc:chgData name="Shaqeeq S 24BAD109" userId="S::shaqeeq.24ad@kct.ac.in::71df80c3-3251-4cde-b824-159bd162868f" providerId="AD" clId="Web-{51287185-4F37-FF56-C474-350C26ED8CC8}" dt="2026-03-09T12:41:48.936" v="206" actId="14100"/>
      <pc:docMkLst>
        <pc:docMk/>
      </pc:docMkLst>
      <pc:sldChg chg="modSp">
        <pc:chgData name="Shaqeeq S 24BAD109" userId="S::shaqeeq.24ad@kct.ac.in::71df80c3-3251-4cde-b824-159bd162868f" providerId="AD" clId="Web-{51287185-4F37-FF56-C474-350C26ED8CC8}" dt="2026-03-09T12:25:07.732" v="42" actId="20577"/>
        <pc:sldMkLst>
          <pc:docMk/>
          <pc:sldMk cId="0" sldId="256"/>
        </pc:sldMkLst>
        <pc:spChg chg="mod">
          <ac:chgData name="Shaqeeq S 24BAD109" userId="S::shaqeeq.24ad@kct.ac.in::71df80c3-3251-4cde-b824-159bd162868f" providerId="AD" clId="Web-{51287185-4F37-FF56-C474-350C26ED8CC8}" dt="2026-03-09T12:25:07.732" v="42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26:08.607" v="52" actId="20577"/>
        <pc:sldMkLst>
          <pc:docMk/>
          <pc:sldMk cId="0" sldId="257"/>
        </pc:sldMkLst>
        <pc:spChg chg="mod">
          <ac:chgData name="Shaqeeq S 24BAD109" userId="S::shaqeeq.24ad@kct.ac.in::71df80c3-3251-4cde-b824-159bd162868f" providerId="AD" clId="Web-{51287185-4F37-FF56-C474-350C26ED8CC8}" dt="2026-03-09T12:26:08.607" v="52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29:28.849" v="88" actId="20577"/>
        <pc:sldMkLst>
          <pc:docMk/>
          <pc:sldMk cId="0" sldId="258"/>
        </pc:sldMkLst>
        <pc:spChg chg="mod">
          <ac:chgData name="Shaqeeq S 24BAD109" userId="S::shaqeeq.24ad@kct.ac.in::71df80c3-3251-4cde-b824-159bd162868f" providerId="AD" clId="Web-{51287185-4F37-FF56-C474-350C26ED8CC8}" dt="2026-03-09T12:29:28.849" v="88" actId="20577"/>
          <ac:spMkLst>
            <pc:docMk/>
            <pc:sldMk cId="0" sldId="258"/>
            <ac:spMk id="6" creationId="{00000000-0000-0000-0000-000000000000}"/>
          </ac:spMkLst>
        </pc:spChg>
      </pc:sldChg>
      <pc:sldChg chg="addSp delSp modSp">
        <pc:chgData name="Shaqeeq S 24BAD109" userId="S::shaqeeq.24ad@kct.ac.in::71df80c3-3251-4cde-b824-159bd162868f" providerId="AD" clId="Web-{51287185-4F37-FF56-C474-350C26ED8CC8}" dt="2026-03-09T12:41:48.936" v="206" actId="14100"/>
        <pc:sldMkLst>
          <pc:docMk/>
          <pc:sldMk cId="0" sldId="259"/>
        </pc:sldMkLst>
        <pc:spChg chg="add del mod">
          <ac:chgData name="Shaqeeq S 24BAD109" userId="S::shaqeeq.24ad@kct.ac.in::71df80c3-3251-4cde-b824-159bd162868f" providerId="AD" clId="Web-{51287185-4F37-FF56-C474-350C26ED8CC8}" dt="2026-03-09T12:41:48.936" v="206" actId="14100"/>
          <ac:spMkLst>
            <pc:docMk/>
            <pc:sldMk cId="0" sldId="259"/>
            <ac:spMk id="6" creationId="{39830326-9244-16C5-6A34-4705E606B26E}"/>
          </ac:spMkLst>
        </pc:spChg>
        <pc:spChg chg="add del mod">
          <ac:chgData name="Shaqeeq S 24BAD109" userId="S::shaqeeq.24ad@kct.ac.in::71df80c3-3251-4cde-b824-159bd162868f" providerId="AD" clId="Web-{51287185-4F37-FF56-C474-350C26ED8CC8}" dt="2026-03-09T12:41:48.827" v="204"/>
          <ac:spMkLst>
            <pc:docMk/>
            <pc:sldMk cId="0" sldId="259"/>
            <ac:spMk id="8" creationId="{D75AD6F8-7901-AD0C-1FAD-9B4BD1C27926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41:48.561" v="199" actId="20577"/>
        <pc:sldMkLst>
          <pc:docMk/>
          <pc:sldMk cId="0" sldId="260"/>
        </pc:sldMkLst>
        <pc:spChg chg="mod">
          <ac:chgData name="Shaqeeq S 24BAD109" userId="S::shaqeeq.24ad@kct.ac.in::71df80c3-3251-4cde-b824-159bd162868f" providerId="AD" clId="Web-{51287185-4F37-FF56-C474-350C26ED8CC8}" dt="2026-03-09T12:41:48.561" v="199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41:48.202" v="191" actId="20577"/>
        <pc:sldMkLst>
          <pc:docMk/>
          <pc:sldMk cId="0" sldId="261"/>
        </pc:sldMkLst>
        <pc:spChg chg="mod">
          <ac:chgData name="Shaqeeq S 24BAD109" userId="S::shaqeeq.24ad@kct.ac.in::71df80c3-3251-4cde-b824-159bd162868f" providerId="AD" clId="Web-{51287185-4F37-FF56-C474-350C26ED8CC8}" dt="2026-03-09T12:41:48.202" v="191" actId="20577"/>
          <ac:spMkLst>
            <pc:docMk/>
            <pc:sldMk cId="0" sldId="261"/>
            <ac:spMk id="6" creationId="{00000000-0000-0000-0000-000000000000}"/>
          </ac:spMkLst>
        </pc:spChg>
      </pc:sldChg>
    </pc:docChg>
  </pc:docChgLst>
  <pc:docChgLst>
    <pc:chgData name="Shaqeeq S 24BAD109" userId="S::shaqeeq.24ad@kct.ac.in::71df80c3-3251-4cde-b824-159bd162868f" providerId="AD" clId="Web-{8B138E48-3DF8-0276-956E-60BF194BDDA8}"/>
    <pc:docChg chg="modSld">
      <pc:chgData name="Shaqeeq S 24BAD109" userId="S::shaqeeq.24ad@kct.ac.in::71df80c3-3251-4cde-b824-159bd162868f" providerId="AD" clId="Web-{8B138E48-3DF8-0276-956E-60BF194BDDA8}" dt="2026-03-09T10:57:35.505" v="7" actId="20577"/>
      <pc:docMkLst>
        <pc:docMk/>
      </pc:docMkLst>
      <pc:sldChg chg="modSp">
        <pc:chgData name="Shaqeeq S 24BAD109" userId="S::shaqeeq.24ad@kct.ac.in::71df80c3-3251-4cde-b824-159bd162868f" providerId="AD" clId="Web-{8B138E48-3DF8-0276-956E-60BF194BDDA8}" dt="2026-03-09T10:57:35.505" v="7" actId="20577"/>
        <pc:sldMkLst>
          <pc:docMk/>
          <pc:sldMk cId="0" sldId="256"/>
        </pc:sldMkLst>
        <pc:spChg chg="mod">
          <ac:chgData name="Shaqeeq S 24BAD109" userId="S::shaqeeq.24ad@kct.ac.in::71df80c3-3251-4cde-b824-159bd162868f" providerId="AD" clId="Web-{8B138E48-3DF8-0276-956E-60BF194BDDA8}" dt="2026-03-09T10:57:35.505" v="7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00" y="190500"/>
            <a:ext cx="1299889" cy="1278575"/>
          </a:xfrm>
          <a:custGeom>
            <a:avLst/>
            <a:gdLst/>
            <a:ahLst/>
            <a:cxnLst/>
            <a:rect l="l" t="t" r="r" b="b"/>
            <a:pathLst>
              <a:path w="2488943" h="2529537">
                <a:moveTo>
                  <a:pt x="0" y="0"/>
                </a:moveTo>
                <a:lnTo>
                  <a:pt x="2488944" y="0"/>
                </a:lnTo>
                <a:lnTo>
                  <a:pt x="2488944" y="2529538"/>
                </a:lnTo>
                <a:lnTo>
                  <a:pt x="0" y="252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0" t="-4622" r="-22184" b="-296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737790" y="190500"/>
            <a:ext cx="2519089" cy="945897"/>
          </a:xfrm>
          <a:custGeom>
            <a:avLst/>
            <a:gdLst/>
            <a:ahLst/>
            <a:cxnLst/>
            <a:rect l="l" t="t" r="r" b="b"/>
            <a:pathLst>
              <a:path w="4049893" h="1883200">
                <a:moveTo>
                  <a:pt x="0" y="0"/>
                </a:moveTo>
                <a:lnTo>
                  <a:pt x="4049893" y="0"/>
                </a:lnTo>
                <a:lnTo>
                  <a:pt x="4049893" y="1883200"/>
                </a:lnTo>
                <a:lnTo>
                  <a:pt x="0" y="188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231061" y="534627"/>
            <a:ext cx="11180668" cy="2507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6"/>
              </a:lnSpc>
            </a:pPr>
            <a:r>
              <a:rPr lang="en-US" sz="4997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and Data Science</a:t>
            </a:r>
          </a:p>
          <a:p>
            <a:pPr algn="ctr">
              <a:lnSpc>
                <a:spcPts val="6436"/>
              </a:lnSpc>
              <a:spcBef>
                <a:spcPct val="0"/>
              </a:spcBef>
            </a:pPr>
            <a:r>
              <a:rPr lang="en-US" sz="4597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and Visualization</a:t>
            </a:r>
          </a:p>
          <a:p>
            <a:pPr algn="ctr">
              <a:lnSpc>
                <a:spcPts val="6436"/>
              </a:lnSpc>
              <a:spcBef>
                <a:spcPct val="0"/>
              </a:spcBef>
            </a:pPr>
            <a:r>
              <a:rPr lang="en-US" sz="4597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24ADI204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19804" y="3412505"/>
            <a:ext cx="10410901" cy="126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5"/>
              </a:lnSpc>
            </a:pPr>
            <a:r>
              <a:rPr lang="en-US" sz="3561" b="1" dirty="0">
                <a:solidFill>
                  <a:srgbClr val="000000"/>
                </a:solidFill>
                <a:latin typeface="Times New Roman" panose="02020603050405020304" pitchFamily="18" charset="0"/>
                <a:ea typeface="Poppins Bold Italics"/>
                <a:cs typeface="Times New Roman" panose="02020603050405020304" pitchFamily="18" charset="0"/>
                <a:sym typeface="Poppins Bold Italics"/>
              </a:rPr>
              <a:t>DATA-VIZ HACK-A-BIT (2026-2027) </a:t>
            </a:r>
          </a:p>
          <a:p>
            <a:pPr algn="ctr">
              <a:lnSpc>
                <a:spcPts val="4985"/>
              </a:lnSpc>
              <a:spcBef>
                <a:spcPct val="0"/>
              </a:spcBef>
            </a:pPr>
            <a:endParaRPr lang="en-US" sz="3561" b="1" i="1" dirty="0">
              <a:solidFill>
                <a:srgbClr val="000000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08777" y="5507337"/>
            <a:ext cx="4887823" cy="620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67"/>
              </a:lnSpc>
              <a:spcBef>
                <a:spcPct val="0"/>
              </a:spcBef>
            </a:pPr>
            <a:r>
              <a:rPr lang="en-US" sz="3619" dirty="0">
                <a:solidFill>
                  <a:srgbClr val="00000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Team Number:  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44000" y="4455918"/>
            <a:ext cx="1100000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PROJECT REVIEW (October 2026)</a:t>
            </a:r>
          </a:p>
        </p:txBody>
      </p:sp>
      <p:sp>
        <p:nvSpPr>
          <p:cNvPr id="101" name="Project title"/>
          <p:cNvSpPr/>
          <p:nvPr/>
        </p:nvSpPr>
        <p:spPr>
          <a:xfrm>
            <a:off x="2900000" y="6900000"/>
            <a:ext cx="12488000" cy="2300000"/>
          </a:xfrm>
          <a:prstGeom prst="roundRect">
            <a:avLst>
              <a:gd name="adj" fmla="val 8000"/>
            </a:avLst>
          </a:prstGeom>
          <a:solidFill>
            <a:srgbClr val="112D63"/>
          </a:solidFill>
          <a:ln>
            <a:noFill/>
          </a:ln>
        </p:spPr>
        <p:txBody>
          <a:bodyPr wrap="square" lIns="180000" tIns="120000" rIns="180000" bIns="1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dirty="0">
                <a:solidFill>
                  <a:srgbClr val="9FB8E6"/>
                </a:solidFill>
                <a:latin typeface="Poppins"/>
                <a:cs typeface="Poppins"/>
              </a:rPr>
              <a:t>Project Review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Poppins"/>
                <a:cs typeface="Poppins"/>
              </a:rPr>
              <a:t>Ames Housing Dataset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C9D6F0"/>
                </a:solidFill>
                <a:latin typeface="Poppins"/>
                <a:cs typeface="Poppins"/>
              </a:rPr>
              <a:t>Data Science &amp; Visualization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718753" y="3315304"/>
            <a:ext cx="1828196" cy="1828196"/>
          </a:xfrm>
          <a:custGeom>
            <a:avLst/>
            <a:gdLst/>
            <a:ahLst/>
            <a:cxnLst/>
            <a:rect l="l" t="t" r="r" b="b"/>
            <a:pathLst>
              <a:path w="1828196" h="1828196">
                <a:moveTo>
                  <a:pt x="0" y="0"/>
                </a:moveTo>
                <a:lnTo>
                  <a:pt x="1828196" y="0"/>
                </a:lnTo>
                <a:lnTo>
                  <a:pt x="1828196" y="1828196"/>
                </a:lnTo>
                <a:lnTo>
                  <a:pt x="0" y="1828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1" name="Objective card"/>
          <p:cNvSpPr/>
          <p:nvPr/>
        </p:nvSpPr>
        <p:spPr>
          <a:xfrm>
            <a:off x="2900000" y="3000000"/>
            <a:ext cx="8600000" cy="6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260000" tIns="200000" rIns="220000" bIns="16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800" b="1" dirty="0">
                <a:solidFill>
                  <a:srgbClr val="112D63"/>
                </a:solidFill>
                <a:latin typeface="Poppins"/>
                <a:cs typeface="Poppins"/>
              </a:rPr>
              <a:t>Project Objective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800" dirty="0">
                <a:solidFill>
                  <a:srgbClr val="2B2F3A"/>
                </a:solidFill>
                <a:latin typeface="Poppins"/>
                <a:cs typeface="Poppins"/>
              </a:rPr>
              <a:t>Analyze the Ames Housing Dataset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800" dirty="0">
                <a:solidFill>
                  <a:srgbClr val="2B2F3A"/>
                </a:solidFill>
                <a:latin typeface="Poppins"/>
                <a:cs typeface="Poppins"/>
              </a:rPr>
              <a:t>Understand factors linked to SalePrice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800" dirty="0">
                <a:solidFill>
                  <a:srgbClr val="2B2F3A"/>
                </a:solidFill>
                <a:latin typeface="Poppins"/>
                <a:cs typeface="Poppins"/>
              </a:rPr>
              <a:t>Clean and prepare the data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800" dirty="0">
                <a:solidFill>
                  <a:srgbClr val="2B2F3A"/>
                </a:solidFill>
                <a:latin typeface="Poppins"/>
                <a:cs typeface="Poppins"/>
              </a:rPr>
              <a:t>Perform exploratory data analysis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800" dirty="0">
                <a:solidFill>
                  <a:srgbClr val="2B2F3A"/>
                </a:solidFill>
                <a:latin typeface="Poppins"/>
                <a:cs typeface="Poppins"/>
              </a:rPr>
              <a:t>Engineer and transform features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800" dirty="0">
                <a:solidFill>
                  <a:srgbClr val="2B2F3A"/>
                </a:solidFill>
                <a:latin typeface="Poppins"/>
                <a:cs typeface="Poppins"/>
              </a:rPr>
              <a:t>Select important features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800" dirty="0">
                <a:solidFill>
                  <a:srgbClr val="2B2F3A"/>
                </a:solidFill>
                <a:latin typeface="Poppins"/>
                <a:cs typeface="Poppins"/>
              </a:rPr>
              <a:t>Apply PCA for dimensionality reduction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800" dirty="0">
                <a:solidFill>
                  <a:srgbClr val="2B2F3A"/>
                </a:solidFill>
                <a:latin typeface="Poppins"/>
                <a:cs typeface="Poppins"/>
              </a:rPr>
              <a:t>Prepare data for house-price prediction</a:t>
            </a:r>
          </a:p>
        </p:txBody>
      </p:sp>
      <p:sp>
        <p:nvSpPr>
          <p:cNvPr id="102" name="Stat properties"/>
          <p:cNvSpPr/>
          <p:nvPr/>
        </p:nvSpPr>
        <p:spPr>
          <a:xfrm>
            <a:off x="11800000" y="3000000"/>
            <a:ext cx="2800000" cy="17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wrap="square" lIns="90000" tIns="60000" rIns="90000" bIns="6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112D63"/>
                </a:solidFill>
                <a:latin typeface="Poppins"/>
                <a:cs typeface="Poppins"/>
              </a:rPr>
              <a:t>3,130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5A6275"/>
                </a:solidFill>
                <a:latin typeface="Poppins"/>
                <a:cs typeface="Poppins"/>
              </a:rPr>
              <a:t>Properties</a:t>
            </a:r>
          </a:p>
        </p:txBody>
      </p:sp>
      <p:sp>
        <p:nvSpPr>
          <p:cNvPr id="103" name="Stat features"/>
          <p:cNvSpPr/>
          <p:nvPr/>
        </p:nvSpPr>
        <p:spPr>
          <a:xfrm>
            <a:off x="14900000" y="3000000"/>
            <a:ext cx="2800000" cy="17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wrap="square" lIns="90000" tIns="60000" rIns="90000" bIns="6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112D63"/>
                </a:solidFill>
                <a:latin typeface="Poppins"/>
                <a:cs typeface="Poppins"/>
              </a:rPr>
              <a:t>82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5A6275"/>
                </a:solidFill>
                <a:latin typeface="Poppins"/>
                <a:cs typeface="Poppins"/>
              </a:rPr>
              <a:t>Original features</a:t>
            </a:r>
          </a:p>
        </p:txBody>
      </p:sp>
      <p:sp>
        <p:nvSpPr>
          <p:cNvPr id="104" name="Target tile"/>
          <p:cNvSpPr/>
          <p:nvPr/>
        </p:nvSpPr>
        <p:spPr>
          <a:xfrm>
            <a:off x="11800000" y="5000000"/>
            <a:ext cx="5900000" cy="1150000"/>
          </a:xfrm>
          <a:prstGeom prst="roundRect">
            <a:avLst>
              <a:gd name="adj" fmla="val 7000"/>
            </a:avLst>
          </a:prstGeom>
          <a:solidFill>
            <a:srgbClr val="112D63"/>
          </a:solidFill>
          <a:ln>
            <a:noFill/>
          </a:ln>
        </p:spPr>
        <p:txBody>
          <a:bodyPr wrap="square" lIns="180000" tIns="120000" rIns="180000" bIns="1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9FB8E6"/>
                </a:solidFill>
                <a:latin typeface="Poppins"/>
                <a:cs typeface="Poppins"/>
              </a:rPr>
              <a:t>Target variable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Poppins"/>
                <a:cs typeface="Poppins"/>
              </a:rPr>
              <a:t>SalePrice</a:t>
            </a:r>
          </a:p>
        </p:txBody>
      </p:sp>
      <p:sp>
        <p:nvSpPr>
          <p:cNvPr id="105" name="Tools card"/>
          <p:cNvSpPr/>
          <p:nvPr/>
        </p:nvSpPr>
        <p:spPr>
          <a:xfrm>
            <a:off x="11800000" y="6450000"/>
            <a:ext cx="5900000" cy="3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260000" tIns="200000" rIns="220000" bIns="10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12D63"/>
                </a:solidFill>
                <a:latin typeface="Poppins"/>
                <a:cs typeface="Poppins"/>
              </a:rPr>
              <a:t>Tools Used</a:t>
            </a:r>
          </a:p>
        </p:txBody>
      </p:sp>
      <p:sp>
        <p:nvSpPr>
          <p:cNvPr id="106" name="Tool Python"/>
          <p:cNvSpPr/>
          <p:nvPr/>
        </p:nvSpPr>
        <p:spPr>
          <a:xfrm>
            <a:off x="12060000" y="7350000"/>
            <a:ext cx="2615000" cy="600000"/>
          </a:xfrm>
          <a:prstGeom prst="roundRect">
            <a:avLst>
              <a:gd name="adj" fmla="val 30000"/>
            </a:avLst>
          </a:prstGeom>
          <a:solidFill>
            <a:srgbClr val="E4ECF8"/>
          </a:solidFill>
          <a:ln>
            <a:noFill/>
          </a:ln>
        </p:spPr>
        <p:txBody>
          <a:bodyPr wrap="square" lIns="30000" tIns="20000" rIns="3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Python</a:t>
            </a:r>
          </a:p>
        </p:txBody>
      </p:sp>
      <p:sp>
        <p:nvSpPr>
          <p:cNvPr id="107" name="Tool Pandas"/>
          <p:cNvSpPr/>
          <p:nvPr/>
        </p:nvSpPr>
        <p:spPr>
          <a:xfrm>
            <a:off x="14825000" y="7350000"/>
            <a:ext cx="2615000" cy="600000"/>
          </a:xfrm>
          <a:prstGeom prst="roundRect">
            <a:avLst>
              <a:gd name="adj" fmla="val 30000"/>
            </a:avLst>
          </a:prstGeom>
          <a:solidFill>
            <a:srgbClr val="E4ECF8"/>
          </a:solidFill>
          <a:ln>
            <a:noFill/>
          </a:ln>
        </p:spPr>
        <p:txBody>
          <a:bodyPr wrap="square" lIns="30000" tIns="20000" rIns="3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Pandas</a:t>
            </a:r>
          </a:p>
        </p:txBody>
      </p:sp>
      <p:sp>
        <p:nvSpPr>
          <p:cNvPr id="108" name="Tool NumPy"/>
          <p:cNvSpPr/>
          <p:nvPr/>
        </p:nvSpPr>
        <p:spPr>
          <a:xfrm>
            <a:off x="12060000" y="8100000"/>
            <a:ext cx="2615000" cy="600000"/>
          </a:xfrm>
          <a:prstGeom prst="roundRect">
            <a:avLst>
              <a:gd name="adj" fmla="val 30000"/>
            </a:avLst>
          </a:prstGeom>
          <a:solidFill>
            <a:srgbClr val="E4ECF8"/>
          </a:solidFill>
          <a:ln>
            <a:noFill/>
          </a:ln>
        </p:spPr>
        <p:txBody>
          <a:bodyPr wrap="square" lIns="30000" tIns="20000" rIns="3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NumPy</a:t>
            </a:r>
          </a:p>
        </p:txBody>
      </p:sp>
      <p:sp>
        <p:nvSpPr>
          <p:cNvPr id="109" name="Tool Matplotlib"/>
          <p:cNvSpPr/>
          <p:nvPr/>
        </p:nvSpPr>
        <p:spPr>
          <a:xfrm>
            <a:off x="14825000" y="8100000"/>
            <a:ext cx="2615000" cy="600000"/>
          </a:xfrm>
          <a:prstGeom prst="roundRect">
            <a:avLst>
              <a:gd name="adj" fmla="val 30000"/>
            </a:avLst>
          </a:prstGeom>
          <a:solidFill>
            <a:srgbClr val="E4ECF8"/>
          </a:solidFill>
          <a:ln>
            <a:noFill/>
          </a:ln>
        </p:spPr>
        <p:txBody>
          <a:bodyPr wrap="square" lIns="30000" tIns="20000" rIns="3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Matplotlib</a:t>
            </a:r>
          </a:p>
        </p:txBody>
      </p:sp>
      <p:sp>
        <p:nvSpPr>
          <p:cNvPr id="110" name="Tool Seaborn"/>
          <p:cNvSpPr/>
          <p:nvPr/>
        </p:nvSpPr>
        <p:spPr>
          <a:xfrm>
            <a:off x="12060000" y="8850000"/>
            <a:ext cx="2615000" cy="600000"/>
          </a:xfrm>
          <a:prstGeom prst="roundRect">
            <a:avLst>
              <a:gd name="adj" fmla="val 30000"/>
            </a:avLst>
          </a:prstGeom>
          <a:solidFill>
            <a:srgbClr val="E4ECF8"/>
          </a:solidFill>
          <a:ln>
            <a:noFill/>
          </a:ln>
        </p:spPr>
        <p:txBody>
          <a:bodyPr wrap="square" lIns="30000" tIns="20000" rIns="3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Seaborn</a:t>
            </a:r>
          </a:p>
        </p:txBody>
      </p:sp>
      <p:sp>
        <p:nvSpPr>
          <p:cNvPr id="111" name="Tool Scikit-learn"/>
          <p:cNvSpPr/>
          <p:nvPr/>
        </p:nvSpPr>
        <p:spPr>
          <a:xfrm>
            <a:off x="14825000" y="8850000"/>
            <a:ext cx="2615000" cy="600000"/>
          </a:xfrm>
          <a:prstGeom prst="roundRect">
            <a:avLst>
              <a:gd name="adj" fmla="val 30000"/>
            </a:avLst>
          </a:prstGeom>
          <a:solidFill>
            <a:srgbClr val="E4ECF8"/>
          </a:solidFill>
          <a:ln>
            <a:noFill/>
          </a:ln>
        </p:spPr>
        <p:txBody>
          <a:bodyPr wrap="square" lIns="30000" tIns="20000" rIns="3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Scikit-learn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Weeks 1 &amp; 2 — Data Understanding</a:t>
            </a:r>
          </a:p>
        </p:txBody>
      </p:sp>
      <p:sp>
        <p:nvSpPr>
          <p:cNvPr id="7" name="Freeform 7"/>
          <p:cNvSpPr/>
          <p:nvPr/>
        </p:nvSpPr>
        <p:spPr>
          <a:xfrm>
            <a:off x="589484" y="3326504"/>
            <a:ext cx="1561780" cy="1561780"/>
          </a:xfrm>
          <a:custGeom>
            <a:avLst/>
            <a:gdLst/>
            <a:ahLst/>
            <a:cxnLst/>
            <a:rect l="l" t="t" r="r" b="b"/>
            <a:pathLst>
              <a:path w="1561780" h="1561780">
                <a:moveTo>
                  <a:pt x="0" y="0"/>
                </a:moveTo>
                <a:lnTo>
                  <a:pt x="1561781" y="0"/>
                </a:lnTo>
                <a:lnTo>
                  <a:pt x="1561781" y="1561780"/>
                </a:lnTo>
                <a:lnTo>
                  <a:pt x="0" y="1561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2" name="Week 1 card"/>
          <p:cNvSpPr/>
          <p:nvPr/>
        </p:nvSpPr>
        <p:spPr>
          <a:xfrm>
            <a:off x="2900000" y="3000000"/>
            <a:ext cx="7250000" cy="44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260000" tIns="200000" rIns="220000" bIns="16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800" b="1" dirty="0">
                <a:solidFill>
                  <a:srgbClr val="112D63"/>
                </a:solidFill>
                <a:latin typeface="Poppins"/>
                <a:cs typeface="Poppins"/>
              </a:rPr>
              <a:t>Week 1 — Understanding the data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Loaded and inspected the dataset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3,130 rows × 82 columns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Checked data types, missing values and statistics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Identified SalePrice as the target</a:t>
            </a:r>
          </a:p>
        </p:txBody>
      </p:sp>
      <p:sp>
        <p:nvSpPr>
          <p:cNvPr id="113" name="Week 2 card"/>
          <p:cNvSpPr/>
          <p:nvPr/>
        </p:nvSpPr>
        <p:spPr>
          <a:xfrm>
            <a:off x="10450000" y="3000000"/>
            <a:ext cx="7250000" cy="44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260000" tIns="200000" rIns="220000" bIns="16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800" b="1" dirty="0">
                <a:solidFill>
                  <a:srgbClr val="112D63"/>
                </a:solidFill>
                <a:latin typeface="Poppins"/>
                <a:cs typeface="Poppins"/>
              </a:rPr>
              <a:t>Week 2 — Initial visualization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Visualized missing values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Distributions: SalePrice, Year Built, Gr Liv Area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Histograms, boxplots, scatterplots, heatmaps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SalePrice vs Neighborhood and House Style</a:t>
            </a:r>
          </a:p>
        </p:txBody>
      </p:sp>
      <p:sp>
        <p:nvSpPr>
          <p:cNvPr id="114" name="Key finding"/>
          <p:cNvSpPr/>
          <p:nvPr/>
        </p:nvSpPr>
        <p:spPr>
          <a:xfrm>
            <a:off x="2900000" y="7700000"/>
            <a:ext cx="10900000" cy="2100000"/>
          </a:xfrm>
          <a:prstGeom prst="roundRect">
            <a:avLst>
              <a:gd name="adj" fmla="val 5000"/>
            </a:avLst>
          </a:prstGeom>
          <a:solidFill>
            <a:srgbClr val="112D63"/>
          </a:solidFill>
          <a:ln>
            <a:noFill/>
          </a:ln>
        </p:spPr>
        <p:txBody>
          <a:bodyPr wrap="square" lIns="300000" tIns="100000" rIns="300000" bIns="10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9FB8E6"/>
                </a:solidFill>
                <a:latin typeface="Poppins"/>
                <a:cs typeface="Poppins"/>
              </a:rPr>
              <a:t>KEY FINDING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Poppins"/>
                <a:cs typeface="Poppins"/>
              </a:rPr>
              <a:t>SalePrice is right-skewed; Overall Qual and Gr Liv Area show strong positive relationships with it.</a:t>
            </a:r>
          </a:p>
        </p:txBody>
      </p:sp>
      <p:sp>
        <p:nvSpPr>
          <p:cNvPr id="115" name="Stat missing"/>
          <p:cNvSpPr/>
          <p:nvPr/>
        </p:nvSpPr>
        <p:spPr>
          <a:xfrm>
            <a:off x="14100000" y="7700000"/>
            <a:ext cx="3600000" cy="210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wrap="square" lIns="90000" tIns="60000" rIns="90000" bIns="6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112D63"/>
                </a:solidFill>
                <a:latin typeface="Poppins"/>
                <a:cs typeface="Poppins"/>
              </a:rPr>
              <a:t>17,010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5A6275"/>
                </a:solidFill>
                <a:latin typeface="Poppins"/>
                <a:cs typeface="Poppins"/>
              </a:rPr>
              <a:t>missing cells in the original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Weeks 3 &amp; 4 — Cleaning &amp; EDA</a:t>
            </a:r>
          </a:p>
        </p:txBody>
      </p:sp>
      <p:sp>
        <p:nvSpPr>
          <p:cNvPr id="116" name="Week 3 card"/>
          <p:cNvSpPr/>
          <p:nvPr/>
        </p:nvSpPr>
        <p:spPr>
          <a:xfrm>
            <a:off x="2900000" y="3000000"/>
            <a:ext cx="8600000" cy="3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260000" tIns="200000" rIns="220000" bIns="16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800" b="1" dirty="0">
                <a:solidFill>
                  <a:srgbClr val="112D63"/>
                </a:solidFill>
                <a:latin typeface="Poppins"/>
                <a:cs typeface="Poppins"/>
              </a:rPr>
              <a:t>Week 3 — Data cleaning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Removed 200 exact duplicate rows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Retained all 82 columns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Handled missing values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Outliers: boxplots and |Z| &gt; 3</a:t>
            </a:r>
          </a:p>
        </p:txBody>
      </p:sp>
      <p:sp>
        <p:nvSpPr>
          <p:cNvPr id="117" name="Week 4 card"/>
          <p:cNvSpPr/>
          <p:nvPr/>
        </p:nvSpPr>
        <p:spPr>
          <a:xfrm>
            <a:off x="2900000" y="6550000"/>
            <a:ext cx="8600000" cy="32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260000" tIns="200000" rIns="220000" bIns="16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800" b="1" dirty="0">
                <a:solidFill>
                  <a:srgbClr val="112D63"/>
                </a:solidFill>
                <a:latin typeface="Poppins"/>
                <a:cs typeface="Poppins"/>
              </a:rPr>
              <a:t>Week 4 — EDA deep dive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Univariate and bivariate analysis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Correlations and categorical comparisons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600" dirty="0">
                <a:solidFill>
                  <a:srgbClr val="2B2F3A"/>
                </a:solidFill>
                <a:latin typeface="Poppins"/>
                <a:cs typeface="Poppins"/>
              </a:rPr>
              <a:t>SalePrice, Overall Qual, Gr Liv Area, Neighborhood</a:t>
            </a:r>
          </a:p>
        </p:txBody>
      </p:sp>
      <p:sp>
        <p:nvSpPr>
          <p:cNvPr id="118" name="Original tile"/>
          <p:cNvSpPr/>
          <p:nvPr/>
        </p:nvSpPr>
        <p:spPr>
          <a:xfrm>
            <a:off x="11800000" y="3000000"/>
            <a:ext cx="5900000" cy="13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wrap="square" lIns="90000" tIns="60000" rIns="90000" bIns="6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112D63"/>
                </a:solidFill>
                <a:latin typeface="Poppins"/>
                <a:cs typeface="Poppins"/>
              </a:rPr>
              <a:t>3,130 × 82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5A6275"/>
                </a:solidFill>
                <a:latin typeface="Poppins"/>
                <a:cs typeface="Poppins"/>
              </a:rPr>
              <a:t>Original dataset</a:t>
            </a:r>
          </a:p>
        </p:txBody>
      </p:sp>
      <p:sp>
        <p:nvSpPr>
          <p:cNvPr id="119" name="Duplicates pill"/>
          <p:cNvSpPr/>
          <p:nvPr/>
        </p:nvSpPr>
        <p:spPr>
          <a:xfrm>
            <a:off x="11800000" y="4450000"/>
            <a:ext cx="5900000" cy="65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40000" tIns="20000" rIns="40000" bIns="2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2F5DA8"/>
                </a:solidFill>
                <a:latin typeface="Poppins"/>
                <a:cs typeface="Poppins"/>
              </a:rPr>
              <a:t>↓  200 duplicates removed</a:t>
            </a:r>
          </a:p>
        </p:txBody>
      </p:sp>
      <p:sp>
        <p:nvSpPr>
          <p:cNvPr id="120" name="Cleaned tile"/>
          <p:cNvSpPr/>
          <p:nvPr/>
        </p:nvSpPr>
        <p:spPr>
          <a:xfrm>
            <a:off x="11800000" y="5200000"/>
            <a:ext cx="5900000" cy="1350000"/>
          </a:xfrm>
          <a:prstGeom prst="roundRect">
            <a:avLst>
              <a:gd name="adj" fmla="val 7000"/>
            </a:avLst>
          </a:prstGeom>
          <a:solidFill>
            <a:srgbClr val="112D63"/>
          </a:solidFill>
          <a:ln>
            <a:noFill/>
          </a:ln>
        </p:spPr>
        <p:txBody>
          <a:bodyPr wrap="square" lIns="90000" tIns="60000" rIns="90000" bIns="6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Poppins"/>
                <a:cs typeface="Poppins"/>
              </a:rPr>
              <a:t>2,930 × 82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C9D6F0"/>
                </a:solidFill>
                <a:latin typeface="Poppins"/>
                <a:cs typeface="Poppins"/>
              </a:rPr>
              <a:t>Cleaned dataset</a:t>
            </a:r>
          </a:p>
        </p:txBody>
      </p:sp>
      <p:sp>
        <p:nvSpPr>
          <p:cNvPr id="121" name="Corr tile 1"/>
          <p:cNvSpPr/>
          <p:nvPr/>
        </p:nvSpPr>
        <p:spPr>
          <a:xfrm>
            <a:off x="11800000" y="6750000"/>
            <a:ext cx="2825000" cy="22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wrap="square" lIns="90000" tIns="60000" rIns="90000" bIns="6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112D63"/>
                </a:solidFill>
                <a:latin typeface="Poppins"/>
                <a:cs typeface="Poppins"/>
              </a:rPr>
              <a:t>+0.799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5A6275"/>
                </a:solidFill>
                <a:latin typeface="Poppins"/>
                <a:cs typeface="Poppins"/>
              </a:rPr>
              <a:t>Overall Qual → SalePrice</a:t>
            </a:r>
          </a:p>
        </p:txBody>
      </p:sp>
      <p:sp>
        <p:nvSpPr>
          <p:cNvPr id="122" name="Corr tile 2"/>
          <p:cNvSpPr/>
          <p:nvPr/>
        </p:nvSpPr>
        <p:spPr>
          <a:xfrm>
            <a:off x="14875000" y="6750000"/>
            <a:ext cx="2825000" cy="22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wrap="square" lIns="90000" tIns="60000" rIns="90000" bIns="6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112D63"/>
                </a:solidFill>
                <a:latin typeface="Poppins"/>
                <a:cs typeface="Poppins"/>
              </a:rPr>
              <a:t>+0.707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5A6275"/>
                </a:solidFill>
                <a:latin typeface="Poppins"/>
                <a:cs typeface="Poppins"/>
              </a:rPr>
              <a:t>Gr Liv Area → SalePrice</a:t>
            </a:r>
          </a:p>
        </p:txBody>
      </p:sp>
      <p:sp>
        <p:nvSpPr>
          <p:cNvPr id="123" name="Corr note"/>
          <p:cNvSpPr/>
          <p:nvPr/>
        </p:nvSpPr>
        <p:spPr>
          <a:xfrm>
            <a:off x="11800000" y="9150000"/>
            <a:ext cx="59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5A6275"/>
                </a:solidFill>
                <a:latin typeface="Poppins"/>
                <a:cs typeface="Poppins"/>
              </a:rPr>
              <a:t>Correlation shows association, not causation.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62279" y="3424008"/>
            <a:ext cx="2201327" cy="1929163"/>
          </a:xfrm>
          <a:custGeom>
            <a:avLst/>
            <a:gdLst/>
            <a:ahLst/>
            <a:cxnLst/>
            <a:rect l="l" t="t" r="r" b="b"/>
            <a:pathLst>
              <a:path w="2201327" h="1929163">
                <a:moveTo>
                  <a:pt x="0" y="0"/>
                </a:moveTo>
                <a:lnTo>
                  <a:pt x="2201327" y="0"/>
                </a:lnTo>
                <a:lnTo>
                  <a:pt x="2201327" y="1929163"/>
                </a:lnTo>
                <a:lnTo>
                  <a:pt x="0" y="1929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Week 5 — Audit &amp; Statistics</a:t>
            </a:r>
          </a:p>
        </p:txBody>
      </p:sp>
      <p:sp>
        <p:nvSpPr>
          <p:cNvPr id="124" name="Audit card"/>
          <p:cNvSpPr/>
          <p:nvPr/>
        </p:nvSpPr>
        <p:spPr>
          <a:xfrm>
            <a:off x="2900000" y="3000000"/>
            <a:ext cx="6700000" cy="4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260000" tIns="200000" rIns="220000" bIns="10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112D63"/>
                </a:solidFill>
                <a:latin typeface="Poppins"/>
                <a:cs typeface="Poppins"/>
              </a:rPr>
              <a:t>Audited dataset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5A6275"/>
                </a:solidFill>
                <a:latin typeface="Poppins"/>
                <a:cs typeface="Poppins"/>
              </a:rPr>
              <a:t>Checked: missing values, duplicates, mean, median, std, min/max, skewness, correlations</a:t>
            </a:r>
          </a:p>
        </p:txBody>
      </p:sp>
      <p:graphicFrame>
        <p:nvGraphicFramePr>
          <p:cNvPr id="125" name="Audit table"/>
          <p:cNvGraphicFramePr>
            <a:graphicFrameLocks noGrp="1"/>
          </p:cNvGraphicFramePr>
          <p:nvPr/>
        </p:nvGraphicFramePr>
        <p:xfrm>
          <a:off x="3160000" y="4750000"/>
          <a:ext cx="6180000" cy="2400000"/>
        </p:xfrm>
        <a:graphic>
          <a:graphicData uri="http://schemas.openxmlformats.org/drawingml/2006/table">
            <a:tbl>
              <a:tblPr firstRow="1" bandRow="1"/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oppins"/>
                          <a:cs typeface="Poppins"/>
                        </a:rPr>
                        <a:t>Measure</a:t>
                      </a:r>
                    </a:p>
                  </a:txBody>
                  <a:tcPr marL="180000" marR="180000" marT="70000" marB="70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CFDAEA"/>
                      </a:solidFill>
                    </a:lnT>
                    <a:lnB w="12700">
                      <a:solidFill>
                        <a:srgbClr val="CFDAEA"/>
                      </a:solidFill>
                    </a:lnB>
                    <a:solidFill>
                      <a:srgbClr val="112D6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oppins"/>
                          <a:cs typeface="Poppins"/>
                        </a:rPr>
                        <a:t>Result</a:t>
                      </a:r>
                    </a:p>
                  </a:txBody>
                  <a:tcPr marL="180000" marR="180000" marT="70000" marB="70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CFDAEA"/>
                      </a:solidFill>
                    </a:lnT>
                    <a:lnB w="12700">
                      <a:solidFill>
                        <a:srgbClr val="CFDAEA"/>
                      </a:solidFill>
                    </a:lnB>
                    <a:solidFill>
                      <a:srgbClr val="112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rgbClr val="2B2F3A"/>
                          </a:solidFill>
                          <a:latin typeface="Poppins"/>
                          <a:cs typeface="Poppins"/>
                        </a:rPr>
                        <a:t>Rows</a:t>
                      </a:r>
                    </a:p>
                  </a:txBody>
                  <a:tcPr marL="180000" marR="180000" marT="70000" marB="70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CFDAEA"/>
                      </a:solidFill>
                    </a:lnT>
                    <a:lnB w="12700">
                      <a:solidFill>
                        <a:srgbClr val="CFDA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b="1" dirty="0">
                          <a:solidFill>
                            <a:srgbClr val="2B2F3A"/>
                          </a:solidFill>
                          <a:latin typeface="Poppins"/>
                          <a:cs typeface="Poppins"/>
                        </a:rPr>
                        <a:t>2,930</a:t>
                      </a:r>
                    </a:p>
                  </a:txBody>
                  <a:tcPr marL="180000" marR="180000" marT="70000" marB="70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CFDAEA"/>
                      </a:solidFill>
                    </a:lnT>
                    <a:lnB w="12700">
                      <a:solidFill>
                        <a:srgbClr val="CFDA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rgbClr val="2B2F3A"/>
                          </a:solidFill>
                          <a:latin typeface="Poppins"/>
                          <a:cs typeface="Poppins"/>
                        </a:rPr>
                        <a:t>Columns</a:t>
                      </a:r>
                    </a:p>
                  </a:txBody>
                  <a:tcPr marL="180000" marR="180000" marT="70000" marB="70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CFDAEA"/>
                      </a:solidFill>
                    </a:lnT>
                    <a:lnB w="12700">
                      <a:solidFill>
                        <a:srgbClr val="CFDAEA"/>
                      </a:solidFill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b="1" dirty="0">
                          <a:solidFill>
                            <a:srgbClr val="2B2F3A"/>
                          </a:solidFill>
                          <a:latin typeface="Poppins"/>
                          <a:cs typeface="Poppins"/>
                        </a:rPr>
                        <a:t>82</a:t>
                      </a:r>
                    </a:p>
                  </a:txBody>
                  <a:tcPr marL="180000" marR="180000" marT="70000" marB="70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CFDAEA"/>
                      </a:solidFill>
                    </a:lnT>
                    <a:lnB w="12700">
                      <a:solidFill>
                        <a:srgbClr val="CFDAEA"/>
                      </a:solidFill>
                    </a:lnB>
                    <a:solidFill>
                      <a:srgbClr val="E4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rgbClr val="2B2F3A"/>
                          </a:solidFill>
                          <a:latin typeface="Poppins"/>
                          <a:cs typeface="Poppins"/>
                        </a:rPr>
                        <a:t>Missing cells</a:t>
                      </a:r>
                    </a:p>
                  </a:txBody>
                  <a:tcPr marL="180000" marR="180000" marT="70000" marB="70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CFDAEA"/>
                      </a:solidFill>
                    </a:lnT>
                    <a:lnB w="12700">
                      <a:solidFill>
                        <a:srgbClr val="CFDA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b="1" dirty="0">
                          <a:solidFill>
                            <a:srgbClr val="2B2F3A"/>
                          </a:solidFill>
                          <a:latin typeface="Poppins"/>
                          <a:cs typeface="Poppins"/>
                        </a:rPr>
                        <a:t>0</a:t>
                      </a:r>
                    </a:p>
                  </a:txBody>
                  <a:tcPr marL="180000" marR="180000" marT="70000" marB="70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CFDAEA"/>
                      </a:solidFill>
                    </a:lnT>
                    <a:lnB w="12700">
                      <a:solidFill>
                        <a:srgbClr val="CFDA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rgbClr val="2B2F3A"/>
                          </a:solidFill>
                          <a:latin typeface="Poppins"/>
                          <a:cs typeface="Poppins"/>
                        </a:rPr>
                        <a:t>Duplicate rows</a:t>
                      </a:r>
                    </a:p>
                  </a:txBody>
                  <a:tcPr marL="180000" marR="180000" marT="70000" marB="70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CFDAEA"/>
                      </a:solidFill>
                    </a:lnT>
                    <a:lnB w="12700">
                      <a:solidFill>
                        <a:srgbClr val="CFDAEA"/>
                      </a:solidFill>
                    </a:lnB>
                    <a:solidFill>
                      <a:srgbClr val="E4EC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b="1" dirty="0">
                          <a:solidFill>
                            <a:srgbClr val="2B2F3A"/>
                          </a:solidFill>
                          <a:latin typeface="Poppins"/>
                          <a:cs typeface="Poppins"/>
                        </a:rPr>
                        <a:t>0</a:t>
                      </a:r>
                    </a:p>
                  </a:txBody>
                  <a:tcPr marL="180000" marR="180000" marT="70000" marB="7000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CFDAEA"/>
                      </a:solidFill>
                    </a:lnT>
                    <a:lnB w="12700">
                      <a:solidFill>
                        <a:srgbClr val="CFDAEA"/>
                      </a:solidFill>
                    </a:lnB>
                    <a:solidFill>
                      <a:srgbClr val="E4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6" name="Stats header"/>
          <p:cNvSpPr/>
          <p:nvPr/>
        </p:nvSpPr>
        <p:spPr>
          <a:xfrm>
            <a:off x="9900000" y="305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12D63"/>
                </a:solidFill>
                <a:latin typeface="Poppins"/>
                <a:cs typeface="Poppins"/>
              </a:rPr>
              <a:t>SalePrice statistics</a:t>
            </a:r>
          </a:p>
        </p:txBody>
      </p:sp>
      <p:sp>
        <p:nvSpPr>
          <p:cNvPr id="127" name="SalePrice stat Mean"/>
          <p:cNvSpPr/>
          <p:nvPr/>
        </p:nvSpPr>
        <p:spPr>
          <a:xfrm>
            <a:off x="9900000" y="3800000"/>
            <a:ext cx="3750000" cy="17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wrap="square" lIns="90000" tIns="60000" rIns="90000" bIns="6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12D63"/>
                </a:solidFill>
                <a:latin typeface="Poppins"/>
                <a:cs typeface="Poppins"/>
              </a:rPr>
              <a:t>$180,796.06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5A6275"/>
                </a:solidFill>
                <a:latin typeface="Poppins"/>
                <a:cs typeface="Poppins"/>
              </a:rPr>
              <a:t>Mean</a:t>
            </a:r>
          </a:p>
        </p:txBody>
      </p:sp>
      <p:sp>
        <p:nvSpPr>
          <p:cNvPr id="128" name="SalePrice stat Median"/>
          <p:cNvSpPr/>
          <p:nvPr/>
        </p:nvSpPr>
        <p:spPr>
          <a:xfrm>
            <a:off x="13950000" y="3800000"/>
            <a:ext cx="3750000" cy="17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wrap="square" lIns="90000" tIns="60000" rIns="90000" bIns="6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12D63"/>
                </a:solidFill>
                <a:latin typeface="Poppins"/>
                <a:cs typeface="Poppins"/>
              </a:rPr>
              <a:t>$160,000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5A6275"/>
                </a:solidFill>
                <a:latin typeface="Poppins"/>
                <a:cs typeface="Poppins"/>
              </a:rPr>
              <a:t>Median</a:t>
            </a:r>
          </a:p>
        </p:txBody>
      </p:sp>
      <p:sp>
        <p:nvSpPr>
          <p:cNvPr id="129" name="SalePrice stat Std. deviation"/>
          <p:cNvSpPr/>
          <p:nvPr/>
        </p:nvSpPr>
        <p:spPr>
          <a:xfrm>
            <a:off x="9900000" y="5750000"/>
            <a:ext cx="3750000" cy="17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wrap="square" lIns="90000" tIns="60000" rIns="90000" bIns="6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12D63"/>
                </a:solidFill>
                <a:latin typeface="Poppins"/>
                <a:cs typeface="Poppins"/>
              </a:rPr>
              <a:t>$79,886.69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5A6275"/>
                </a:solidFill>
                <a:latin typeface="Poppins"/>
                <a:cs typeface="Poppins"/>
              </a:rPr>
              <a:t>Std. deviation</a:t>
            </a:r>
          </a:p>
        </p:txBody>
      </p:sp>
      <p:sp>
        <p:nvSpPr>
          <p:cNvPr id="130" name="SalePrice stat Skewness"/>
          <p:cNvSpPr/>
          <p:nvPr/>
        </p:nvSpPr>
        <p:spPr>
          <a:xfrm>
            <a:off x="13950000" y="5750000"/>
            <a:ext cx="3750000" cy="1750000"/>
          </a:xfrm>
          <a:prstGeom prst="roundRect">
            <a:avLst>
              <a:gd name="adj" fmla="val 7000"/>
            </a:avLst>
          </a:prstGeom>
          <a:solidFill>
            <a:srgbClr val="E4ECF8"/>
          </a:solidFill>
          <a:ln>
            <a:noFill/>
          </a:ln>
        </p:spPr>
        <p:txBody>
          <a:bodyPr wrap="square" lIns="90000" tIns="60000" rIns="90000" bIns="6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12D63"/>
                </a:solidFill>
                <a:latin typeface="Poppins"/>
                <a:cs typeface="Poppins"/>
              </a:rPr>
              <a:t>+1.74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5A6275"/>
                </a:solidFill>
                <a:latin typeface="Poppins"/>
                <a:cs typeface="Poppins"/>
              </a:rPr>
              <a:t>Skewness</a:t>
            </a:r>
          </a:p>
        </p:txBody>
      </p:sp>
      <p:sp>
        <p:nvSpPr>
          <p:cNvPr id="131" name="Observation"/>
          <p:cNvSpPr/>
          <p:nvPr/>
        </p:nvSpPr>
        <p:spPr>
          <a:xfrm>
            <a:off x="2900000" y="7750000"/>
            <a:ext cx="14800000" cy="2050000"/>
          </a:xfrm>
          <a:prstGeom prst="roundRect">
            <a:avLst>
              <a:gd name="adj" fmla="val 5000"/>
            </a:avLst>
          </a:prstGeom>
          <a:solidFill>
            <a:srgbClr val="112D63"/>
          </a:solidFill>
          <a:ln>
            <a:noFill/>
          </a:ln>
        </p:spPr>
        <p:txBody>
          <a:bodyPr wrap="square" lIns="300000" tIns="100000" rIns="300000" bIns="10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9FB8E6"/>
                </a:solidFill>
                <a:latin typeface="Poppins"/>
                <a:cs typeface="Poppins"/>
              </a:rPr>
              <a:t>OBSERVATION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Poppins"/>
                <a:cs typeface="Poppins"/>
              </a:rPr>
              <a:t>Mean ($180.8K) is higher than median ($160K): a few expensive properties pull prices upward.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Week 6 — Feature Engineering &amp; Encoding</a:t>
            </a:r>
          </a:p>
        </p:txBody>
      </p:sp>
      <p:sp>
        <p:nvSpPr>
          <p:cNvPr id="7" name="Freeform 7"/>
          <p:cNvSpPr/>
          <p:nvPr/>
        </p:nvSpPr>
        <p:spPr>
          <a:xfrm>
            <a:off x="339787" y="3086100"/>
            <a:ext cx="2066922" cy="2057400"/>
          </a:xfrm>
          <a:custGeom>
            <a:avLst/>
            <a:gdLst/>
            <a:ahLst/>
            <a:cxnLst/>
            <a:rect l="l" t="t" r="r" b="b"/>
            <a:pathLst>
              <a:path w="2066922" h="2057400">
                <a:moveTo>
                  <a:pt x="0" y="0"/>
                </a:moveTo>
                <a:lnTo>
                  <a:pt x="2066922" y="0"/>
                </a:lnTo>
                <a:lnTo>
                  <a:pt x="206692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2" name="Step 1"/>
          <p:cNvSpPr/>
          <p:nvPr/>
        </p:nvSpPr>
        <p:spPr>
          <a:xfrm>
            <a:off x="2900000" y="3000000"/>
            <a:ext cx="3370000" cy="4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220000" tIns="200000" rIns="160000" bIns="12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400" b="1" dirty="0">
                <a:solidFill>
                  <a:srgbClr val="112D63"/>
                </a:solidFill>
                <a:latin typeface="Poppins"/>
                <a:cs typeface="Poppins"/>
              </a:rPr>
              <a:t>1  Feature engineering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2F5DA8"/>
                </a:solidFill>
                <a:latin typeface="Poppins"/>
                <a:cs typeface="Poppins"/>
              </a:rPr>
              <a:t>5 new features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200" dirty="0">
                <a:solidFill>
                  <a:srgbClr val="2B2F3A"/>
                </a:solidFill>
                <a:latin typeface="Poppins"/>
                <a:cs typeface="Poppins"/>
              </a:rPr>
              <a:t>HouseAge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200" dirty="0">
                <a:solidFill>
                  <a:srgbClr val="2B2F3A"/>
                </a:solidFill>
                <a:latin typeface="Poppins"/>
                <a:cs typeface="Poppins"/>
              </a:rPr>
              <a:t>RemodAge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200" dirty="0">
                <a:solidFill>
                  <a:srgbClr val="2B2F3A"/>
                </a:solidFill>
                <a:latin typeface="Poppins"/>
                <a:cs typeface="Poppins"/>
              </a:rPr>
              <a:t>TotalBathrooms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200" dirty="0">
                <a:solidFill>
                  <a:srgbClr val="2B2F3A"/>
                </a:solidFill>
                <a:latin typeface="Poppins"/>
                <a:cs typeface="Poppins"/>
              </a:rPr>
              <a:t>TotalPorchArea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200" dirty="0">
                <a:solidFill>
                  <a:srgbClr val="2B2F3A"/>
                </a:solidFill>
                <a:latin typeface="Poppins"/>
                <a:cs typeface="Poppins"/>
              </a:rPr>
              <a:t>TotalHouseArea</a:t>
            </a:r>
          </a:p>
        </p:txBody>
      </p:sp>
      <p:sp>
        <p:nvSpPr>
          <p:cNvPr id="133" name="Arrow 1"/>
          <p:cNvSpPr/>
          <p:nvPr/>
        </p:nvSpPr>
        <p:spPr>
          <a:xfrm>
            <a:off x="6360000" y="5060000"/>
            <a:ext cx="260000" cy="380000"/>
          </a:xfrm>
          <a:prstGeom prst="rightArrow">
            <a:avLst/>
          </a:prstGeom>
          <a:solidFill>
            <a:srgbClr val="2F5DA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34" name="Step 2"/>
          <p:cNvSpPr/>
          <p:nvPr/>
        </p:nvSpPr>
        <p:spPr>
          <a:xfrm>
            <a:off x="6710000" y="3000000"/>
            <a:ext cx="3370000" cy="4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220000" tIns="200000" rIns="160000" bIns="12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400" b="1" dirty="0">
                <a:solidFill>
                  <a:srgbClr val="112D63"/>
                </a:solidFill>
                <a:latin typeface="Poppins"/>
                <a:cs typeface="Poppins"/>
              </a:rPr>
              <a:t>2  Target transform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2F5DA8"/>
                </a:solidFill>
                <a:latin typeface="Poppins"/>
                <a:cs typeface="Poppins"/>
              </a:rPr>
              <a:t>log1p(SalePrice)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5A6275"/>
                </a:solidFill>
                <a:latin typeface="Poppins"/>
                <a:cs typeface="Poppins"/>
              </a:rPr>
              <a:t>Skewness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112D63"/>
                </a:solidFill>
                <a:latin typeface="Poppins"/>
                <a:cs typeface="Poppins"/>
              </a:rPr>
              <a:t>1.74 → 0.12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5A6275"/>
                </a:solidFill>
                <a:latin typeface="Poppins"/>
                <a:cs typeface="Poppins"/>
              </a:rPr>
              <a:t>More balanced distribution</a:t>
            </a:r>
          </a:p>
        </p:txBody>
      </p:sp>
      <p:sp>
        <p:nvSpPr>
          <p:cNvPr id="135" name="Arrow 2"/>
          <p:cNvSpPr/>
          <p:nvPr/>
        </p:nvSpPr>
        <p:spPr>
          <a:xfrm>
            <a:off x="10170000" y="5060000"/>
            <a:ext cx="260000" cy="380000"/>
          </a:xfrm>
          <a:prstGeom prst="rightArrow">
            <a:avLst/>
          </a:prstGeom>
          <a:solidFill>
            <a:srgbClr val="2F5DA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36" name="Step 3"/>
          <p:cNvSpPr/>
          <p:nvPr/>
        </p:nvSpPr>
        <p:spPr>
          <a:xfrm>
            <a:off x="10520000" y="3000000"/>
            <a:ext cx="3370000" cy="4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220000" tIns="200000" rIns="160000" bIns="12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400" b="1" dirty="0">
                <a:solidFill>
                  <a:srgbClr val="112D63"/>
                </a:solidFill>
                <a:latin typeface="Poppins"/>
                <a:cs typeface="Poppins"/>
              </a:rPr>
              <a:t>3  Scaling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2F5DA8"/>
                </a:solidFill>
                <a:latin typeface="Poppins"/>
                <a:cs typeface="Poppins"/>
              </a:rPr>
              <a:t>Compared 3 scalers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200" dirty="0">
                <a:solidFill>
                  <a:srgbClr val="2B2F3A"/>
                </a:solidFill>
                <a:latin typeface="Poppins"/>
                <a:cs typeface="Poppins"/>
              </a:rPr>
              <a:t>Min-Max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200" dirty="0">
                <a:solidFill>
                  <a:srgbClr val="2B2F3A"/>
                </a:solidFill>
                <a:latin typeface="Poppins"/>
                <a:cs typeface="Poppins"/>
              </a:rPr>
              <a:t>StandardScaler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200" dirty="0">
                <a:solidFill>
                  <a:srgbClr val="2B2F3A"/>
                </a:solidFill>
                <a:latin typeface="Poppins"/>
                <a:cs typeface="Poppins"/>
              </a:rPr>
              <a:t>RobustScaler</a:t>
            </a:r>
          </a:p>
        </p:txBody>
      </p:sp>
      <p:sp>
        <p:nvSpPr>
          <p:cNvPr id="137" name="Arrow 3"/>
          <p:cNvSpPr/>
          <p:nvPr/>
        </p:nvSpPr>
        <p:spPr>
          <a:xfrm>
            <a:off x="13980000" y="5060000"/>
            <a:ext cx="260000" cy="380000"/>
          </a:xfrm>
          <a:prstGeom prst="rightArrow">
            <a:avLst/>
          </a:prstGeom>
          <a:solidFill>
            <a:srgbClr val="2F5DA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38" name="Step 4"/>
          <p:cNvSpPr/>
          <p:nvPr/>
        </p:nvSpPr>
        <p:spPr>
          <a:xfrm>
            <a:off x="14330000" y="3000000"/>
            <a:ext cx="3370000" cy="4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220000" tIns="200000" rIns="160000" bIns="12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400" b="1" dirty="0">
                <a:solidFill>
                  <a:srgbClr val="112D63"/>
                </a:solidFill>
                <a:latin typeface="Poppins"/>
                <a:cs typeface="Poppins"/>
              </a:rPr>
              <a:t>4  Encoding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2F5DA8"/>
                </a:solidFill>
                <a:latin typeface="Poppins"/>
                <a:cs typeface="Poppins"/>
              </a:rPr>
              <a:t>Categorical features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200" dirty="0">
                <a:solidFill>
                  <a:srgbClr val="2B2F3A"/>
                </a:solidFill>
                <a:latin typeface="Poppins"/>
                <a:cs typeface="Poppins"/>
              </a:rPr>
              <a:t>Ordinal (ordered)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200" dirty="0">
                <a:solidFill>
                  <a:srgbClr val="2B2F3A"/>
                </a:solidFill>
                <a:latin typeface="Poppins"/>
                <a:cs typeface="Poppins"/>
              </a:rPr>
              <a:t>One-Hot (nominal)</a:t>
            </a:r>
          </a:p>
        </p:txBody>
      </p:sp>
      <p:sp>
        <p:nvSpPr>
          <p:cNvPr id="139" name="Formulas"/>
          <p:cNvSpPr/>
          <p:nvPr/>
        </p:nvSpPr>
        <p:spPr>
          <a:xfrm>
            <a:off x="2900000" y="7720000"/>
            <a:ext cx="14800000" cy="1150000"/>
          </a:xfrm>
          <a:prstGeom prst="roundRect">
            <a:avLst>
              <a:gd name="adj" fmla="val 8000"/>
            </a:avLst>
          </a:prstGeom>
          <a:solidFill>
            <a:srgbClr val="E4ECF8"/>
          </a:solidFill>
          <a:ln>
            <a:noFill/>
          </a:ln>
        </p:spPr>
        <p:txBody>
          <a:bodyPr wrap="square" lIns="200000" tIns="60000" rIns="200000" bIns="6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000" dirty="0">
                <a:solidFill>
                  <a:srgbClr val="2B2F3A"/>
                </a:solidFill>
                <a:latin typeface="Poppins"/>
                <a:cs typeface="Poppins"/>
              </a:rPr>
              <a:t>HouseAge = Yr Sold − Year Built   •   RemodAge = Yr Sold − Year Remod/Add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2B2F3A"/>
                </a:solidFill>
                <a:latin typeface="Poppins"/>
                <a:cs typeface="Poppins"/>
              </a:rPr>
              <a:t>TotalHouseArea = Gr Liv Area + Total Bsmt SF</a:t>
            </a:r>
          </a:p>
        </p:txBody>
      </p:sp>
      <p:sp>
        <p:nvSpPr>
          <p:cNvPr id="140" name="Result"/>
          <p:cNvSpPr/>
          <p:nvPr/>
        </p:nvSpPr>
        <p:spPr>
          <a:xfrm>
            <a:off x="2900000" y="9050000"/>
            <a:ext cx="14800000" cy="750000"/>
          </a:xfrm>
          <a:prstGeom prst="roundRect">
            <a:avLst>
              <a:gd name="adj" fmla="val 12000"/>
            </a:avLst>
          </a:prstGeom>
          <a:solidFill>
            <a:srgbClr val="112D63"/>
          </a:solidFill>
          <a:ln>
            <a:noFill/>
          </a:ln>
        </p:spPr>
        <p:txBody>
          <a:bodyPr wrap="square" lIns="200000" tIns="40000" rIns="20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Poppins"/>
                <a:cs typeface="Poppins"/>
              </a:rPr>
              <a:t>2,930 × 82   →   2,930 × 293</a:t>
            </a:r>
            <a:r>
              <a:rPr lang="en-US" sz="2200" dirty="0">
                <a:solidFill>
                  <a:srgbClr val="C9D6F0"/>
                </a:solidFill>
                <a:latin typeface="Poppins"/>
                <a:cs typeface="Poppins"/>
              </a:rPr>
              <a:t>   after feature engineering and encoding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Week 7 — Feature Selection &amp; PCA</a:t>
            </a:r>
          </a:p>
        </p:txBody>
      </p:sp>
      <p:sp>
        <p:nvSpPr>
          <p:cNvPr id="141" name="Selection card"/>
          <p:cNvSpPr/>
          <p:nvPr/>
        </p:nvSpPr>
        <p:spPr>
          <a:xfrm>
            <a:off x="2900000" y="3000000"/>
            <a:ext cx="7200000" cy="6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260000" tIns="200000" rIns="220000" bIns="10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12D63"/>
                </a:solidFill>
                <a:latin typeface="Poppins"/>
                <a:cs typeface="Poppins"/>
              </a:rPr>
              <a:t>Feature selection</a:t>
            </a:r>
          </a:p>
        </p:txBody>
      </p:sp>
      <p:sp>
        <p:nvSpPr>
          <p:cNvPr id="142" name="Methods"/>
          <p:cNvSpPr/>
          <p:nvPr/>
        </p:nvSpPr>
        <p:spPr>
          <a:xfrm>
            <a:off x="3160000" y="3900000"/>
            <a:ext cx="6720000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400" dirty="0">
                <a:solidFill>
                  <a:srgbClr val="2B2F3A"/>
                </a:solidFill>
                <a:latin typeface="Poppins"/>
                <a:cs typeface="Poppins"/>
              </a:rPr>
              <a:t>Low-variance threshold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400" dirty="0">
                <a:solidFill>
                  <a:srgbClr val="2B2F3A"/>
                </a:solidFill>
                <a:latin typeface="Poppins"/>
                <a:cs typeface="Poppins"/>
              </a:rPr>
              <a:t>Correlation &amp; multicollinearity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400" dirty="0">
                <a:solidFill>
                  <a:srgbClr val="2B2F3A"/>
                </a:solidFill>
                <a:latin typeface="Poppins"/>
                <a:cs typeface="Poppins"/>
              </a:rPr>
              <a:t>ANOVA F-regression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400" dirty="0">
                <a:solidFill>
                  <a:srgbClr val="2B2F3A"/>
                </a:solidFill>
                <a:latin typeface="Poppins"/>
                <a:cs typeface="Poppins"/>
              </a:rPr>
              <a:t>Random Forest importance</a:t>
            </a:r>
          </a:p>
        </p:txBody>
      </p:sp>
      <p:sp>
        <p:nvSpPr>
          <p:cNvPr id="143" name="Big 279"/>
          <p:cNvSpPr/>
          <p:nvPr/>
        </p:nvSpPr>
        <p:spPr>
          <a:xfrm>
            <a:off x="3160000" y="600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2F5DA8"/>
                </a:solidFill>
                <a:latin typeface="Poppins"/>
                <a:cs typeface="Poppins"/>
              </a:rPr>
              <a:t>279 → 40</a:t>
            </a:r>
          </a:p>
        </p:txBody>
      </p:sp>
      <p:sp>
        <p:nvSpPr>
          <p:cNvPr id="144" name="Big caption"/>
          <p:cNvSpPr/>
          <p:nvPr/>
        </p:nvSpPr>
        <p:spPr>
          <a:xfrm>
            <a:off x="6850000" y="6000000"/>
            <a:ext cx="299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5A6275"/>
                </a:solidFill>
                <a:latin typeface="Poppins"/>
                <a:cs typeface="Poppins"/>
              </a:rPr>
              <a:t>numerical features → curated set</a:t>
            </a:r>
          </a:p>
        </p:txBody>
      </p:sp>
      <p:sp>
        <p:nvSpPr>
          <p:cNvPr id="145" name="RF caption"/>
          <p:cNvSpPr/>
          <p:nvPr/>
        </p:nvSpPr>
        <p:spPr>
          <a:xfrm>
            <a:off x="3160000" y="7200000"/>
            <a:ext cx="672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Random Forest importance</a:t>
            </a:r>
          </a:p>
        </p:txBody>
      </p:sp>
      <p:sp>
        <p:nvSpPr>
          <p:cNvPr id="146" name="RF name Overall Qual"/>
          <p:cNvSpPr/>
          <p:nvPr/>
        </p:nvSpPr>
        <p:spPr>
          <a:xfrm>
            <a:off x="3160000" y="7800000"/>
            <a:ext cx="23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2B2F3A"/>
                </a:solidFill>
                <a:latin typeface="Poppins"/>
                <a:cs typeface="Poppins"/>
              </a:rPr>
              <a:t>Overall Qual</a:t>
            </a:r>
          </a:p>
        </p:txBody>
      </p:sp>
      <p:sp>
        <p:nvSpPr>
          <p:cNvPr id="147" name="RF bar Overall Qual"/>
          <p:cNvSpPr/>
          <p:nvPr/>
        </p:nvSpPr>
        <p:spPr>
          <a:xfrm>
            <a:off x="5550000" y="7860000"/>
            <a:ext cx="2400000" cy="530000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48" name="RF val Overall Qual"/>
          <p:cNvSpPr/>
          <p:nvPr/>
        </p:nvSpPr>
        <p:spPr>
          <a:xfrm>
            <a:off x="8050000" y="7800000"/>
            <a:ext cx="13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49.73%</a:t>
            </a:r>
          </a:p>
        </p:txBody>
      </p:sp>
      <p:sp>
        <p:nvSpPr>
          <p:cNvPr id="149" name="RF name TotalHouseArea"/>
          <p:cNvSpPr/>
          <p:nvPr/>
        </p:nvSpPr>
        <p:spPr>
          <a:xfrm>
            <a:off x="3160000" y="8700000"/>
            <a:ext cx="23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2B2F3A"/>
                </a:solidFill>
                <a:latin typeface="Poppins"/>
                <a:cs typeface="Poppins"/>
              </a:rPr>
              <a:t>TotalHouseArea</a:t>
            </a:r>
          </a:p>
        </p:txBody>
      </p:sp>
      <p:sp>
        <p:nvSpPr>
          <p:cNvPr id="150" name="RF bar TotalHouseArea"/>
          <p:cNvSpPr/>
          <p:nvPr/>
        </p:nvSpPr>
        <p:spPr>
          <a:xfrm>
            <a:off x="5550000" y="8760000"/>
            <a:ext cx="1353710" cy="530000"/>
          </a:xfrm>
          <a:prstGeom prst="rect">
            <a:avLst/>
          </a:prstGeom>
          <a:solidFill>
            <a:srgbClr val="7FA0D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51" name="RF val TotalHouseArea"/>
          <p:cNvSpPr/>
          <p:nvPr/>
        </p:nvSpPr>
        <p:spPr>
          <a:xfrm>
            <a:off x="7003710" y="8700000"/>
            <a:ext cx="13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28.05%</a:t>
            </a:r>
          </a:p>
        </p:txBody>
      </p:sp>
      <p:sp>
        <p:nvSpPr>
          <p:cNvPr id="152" name="PCA card"/>
          <p:cNvSpPr/>
          <p:nvPr/>
        </p:nvSpPr>
        <p:spPr>
          <a:xfrm>
            <a:off x="10400000" y="3000000"/>
            <a:ext cx="7300000" cy="6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260000" tIns="200000" rIns="220000" bIns="10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12D63"/>
                </a:solidFill>
                <a:latin typeface="Poppins"/>
                <a:cs typeface="Poppins"/>
              </a:rPr>
              <a:t>PCA — after standardization</a:t>
            </a:r>
          </a:p>
        </p:txBody>
      </p:sp>
      <p:sp>
        <p:nvSpPr>
          <p:cNvPr id="153" name="PCA bar 80%"/>
          <p:cNvSpPr/>
          <p:nvPr/>
        </p:nvSpPr>
        <p:spPr>
          <a:xfrm>
            <a:off x="11200000" y="5361143"/>
            <a:ext cx="1500000" cy="1938857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54" name="PCA val 80%"/>
          <p:cNvSpPr/>
          <p:nvPr/>
        </p:nvSpPr>
        <p:spPr>
          <a:xfrm>
            <a:off x="11000000" y="4801143"/>
            <a:ext cx="1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12D63"/>
                </a:solidFill>
                <a:latin typeface="Poppins"/>
                <a:cs typeface="Poppins"/>
              </a:rPr>
              <a:t>117</a:t>
            </a:r>
          </a:p>
        </p:txBody>
      </p:sp>
      <p:sp>
        <p:nvSpPr>
          <p:cNvPr id="155" name="PCA lbl 80%"/>
          <p:cNvSpPr/>
          <p:nvPr/>
        </p:nvSpPr>
        <p:spPr>
          <a:xfrm>
            <a:off x="11000000" y="7360000"/>
            <a:ext cx="1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2B2F3A"/>
                </a:solidFill>
                <a:latin typeface="Poppins"/>
                <a:cs typeface="Poppins"/>
              </a:rPr>
              <a:t>80%</a:t>
            </a:r>
          </a:p>
        </p:txBody>
      </p:sp>
      <p:sp>
        <p:nvSpPr>
          <p:cNvPr id="156" name="PCA bar 90%"/>
          <p:cNvSpPr/>
          <p:nvPr/>
        </p:nvSpPr>
        <p:spPr>
          <a:xfrm>
            <a:off x="13300000" y="4781143"/>
            <a:ext cx="1500000" cy="2518857"/>
          </a:xfrm>
          <a:prstGeom prst="rect">
            <a:avLst/>
          </a:prstGeom>
          <a:solidFill>
            <a:srgbClr val="2F5DA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57" name="PCA val 90%"/>
          <p:cNvSpPr/>
          <p:nvPr/>
        </p:nvSpPr>
        <p:spPr>
          <a:xfrm>
            <a:off x="13100000" y="4221143"/>
            <a:ext cx="1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12D63"/>
                </a:solidFill>
                <a:latin typeface="Poppins"/>
                <a:cs typeface="Poppins"/>
              </a:rPr>
              <a:t>152</a:t>
            </a:r>
          </a:p>
        </p:txBody>
      </p:sp>
      <p:sp>
        <p:nvSpPr>
          <p:cNvPr id="158" name="PCA lbl 90%"/>
          <p:cNvSpPr/>
          <p:nvPr/>
        </p:nvSpPr>
        <p:spPr>
          <a:xfrm>
            <a:off x="13100000" y="7360000"/>
            <a:ext cx="1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2B2F3A"/>
                </a:solidFill>
                <a:latin typeface="Poppins"/>
                <a:cs typeface="Poppins"/>
              </a:rPr>
              <a:t>90%</a:t>
            </a:r>
          </a:p>
        </p:txBody>
      </p:sp>
      <p:sp>
        <p:nvSpPr>
          <p:cNvPr id="159" name="PCA bar 95%"/>
          <p:cNvSpPr/>
          <p:nvPr/>
        </p:nvSpPr>
        <p:spPr>
          <a:xfrm>
            <a:off x="15400000" y="4400000"/>
            <a:ext cx="1500000" cy="2900000"/>
          </a:xfrm>
          <a:prstGeom prst="rect">
            <a:avLst/>
          </a:prstGeom>
          <a:solidFill>
            <a:srgbClr val="112D63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60" name="PCA val 95%"/>
          <p:cNvSpPr/>
          <p:nvPr/>
        </p:nvSpPr>
        <p:spPr>
          <a:xfrm>
            <a:off x="15200000" y="3840000"/>
            <a:ext cx="1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12D63"/>
                </a:solidFill>
                <a:latin typeface="Poppins"/>
                <a:cs typeface="Poppins"/>
              </a:rPr>
              <a:t>175</a:t>
            </a:r>
          </a:p>
        </p:txBody>
      </p:sp>
      <p:sp>
        <p:nvSpPr>
          <p:cNvPr id="161" name="PCA lbl 95%"/>
          <p:cNvSpPr/>
          <p:nvPr/>
        </p:nvSpPr>
        <p:spPr>
          <a:xfrm>
            <a:off x="15200000" y="7360000"/>
            <a:ext cx="1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2B2F3A"/>
                </a:solidFill>
                <a:latin typeface="Poppins"/>
                <a:cs typeface="Poppins"/>
              </a:rPr>
              <a:t>95%</a:t>
            </a:r>
          </a:p>
        </p:txBody>
      </p:sp>
      <p:sp>
        <p:nvSpPr>
          <p:cNvPr id="162" name="PCA axis"/>
          <p:cNvSpPr/>
          <p:nvPr/>
        </p:nvSpPr>
        <p:spPr>
          <a:xfrm>
            <a:off x="10660000" y="7820000"/>
            <a:ext cx="682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5A6275"/>
                </a:solidFill>
                <a:latin typeface="Poppins"/>
                <a:cs typeface="Poppins"/>
              </a:rPr>
              <a:t>components needed for variance retained</a:t>
            </a:r>
          </a:p>
        </p:txBody>
      </p:sp>
      <p:sp>
        <p:nvSpPr>
          <p:cNvPr id="163" name="PCA callout"/>
          <p:cNvSpPr/>
          <p:nvPr/>
        </p:nvSpPr>
        <p:spPr>
          <a:xfrm>
            <a:off x="10660000" y="8250000"/>
            <a:ext cx="6780000" cy="1350000"/>
          </a:xfrm>
          <a:prstGeom prst="roundRect">
            <a:avLst>
              <a:gd name="adj" fmla="val 8000"/>
            </a:avLst>
          </a:prstGeom>
          <a:solidFill>
            <a:srgbClr val="E4ECF8"/>
          </a:solidFill>
          <a:ln>
            <a:noFill/>
          </a:ln>
        </p:spPr>
        <p:txBody>
          <a:bodyPr wrap="square" lIns="200000" tIns="60000" rIns="200000" bIns="6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12D63"/>
                </a:solidFill>
                <a:latin typeface="Poppins"/>
                <a:cs typeface="Poppins"/>
              </a:rPr>
              <a:t>175 components keep 95% of variance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5A6275"/>
                </a:solidFill>
                <a:latin typeface="Poppins"/>
                <a:cs typeface="Poppins"/>
              </a:rPr>
              <a:t>Selection keeps original, interpretable features; PCA creates new components.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9502" y="3093509"/>
            <a:ext cx="2186679" cy="2434562"/>
          </a:xfrm>
          <a:custGeom>
            <a:avLst/>
            <a:gdLst/>
            <a:ahLst/>
            <a:cxnLst/>
            <a:rect l="l" t="t" r="r" b="b"/>
            <a:pathLst>
              <a:path w="2186679" h="2434562">
                <a:moveTo>
                  <a:pt x="0" y="0"/>
                </a:moveTo>
                <a:lnTo>
                  <a:pt x="2186679" y="0"/>
                </a:lnTo>
                <a:lnTo>
                  <a:pt x="2186679" y="2434562"/>
                </a:lnTo>
                <a:lnTo>
                  <a:pt x="0" y="2434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Overall Project Outcome</a:t>
            </a:r>
          </a:p>
        </p:txBody>
      </p:sp>
      <p:sp>
        <p:nvSpPr>
          <p:cNvPr id="164" name="Flow 1-1"/>
          <p:cNvSpPr/>
          <p:nvPr/>
        </p:nvSpPr>
        <p:spPr>
          <a:xfrm>
            <a:off x="2900000" y="3000000"/>
            <a:ext cx="2656000" cy="1650000"/>
          </a:xfrm>
          <a:prstGeom prst="roundRect">
            <a:avLst>
              <a:gd name="adj" fmla="val 9000"/>
            </a:avLst>
          </a:prstGeom>
          <a:solidFill>
            <a:srgbClr val="E4ECF8"/>
          </a:solidFill>
          <a:ln>
            <a:noFill/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Raw dataset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2F5DA8"/>
                </a:solidFill>
                <a:latin typeface="Poppins"/>
                <a:cs typeface="Poppins"/>
              </a:rPr>
              <a:t>3,130 × 82</a:t>
            </a:r>
          </a:p>
        </p:txBody>
      </p:sp>
      <p:sp>
        <p:nvSpPr>
          <p:cNvPr id="165" name="Flow arrow 1-1"/>
          <p:cNvSpPr/>
          <p:nvPr/>
        </p:nvSpPr>
        <p:spPr>
          <a:xfrm>
            <a:off x="5606000" y="3695000"/>
            <a:ext cx="280000" cy="260000"/>
          </a:xfrm>
          <a:prstGeom prst="rightArrow">
            <a:avLst/>
          </a:prstGeom>
          <a:solidFill>
            <a:srgbClr val="2F5DA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66" name="Flow 1-2"/>
          <p:cNvSpPr/>
          <p:nvPr/>
        </p:nvSpPr>
        <p:spPr>
          <a:xfrm>
            <a:off x="5936000" y="3000000"/>
            <a:ext cx="2656000" cy="16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Data understanding</a:t>
            </a:r>
          </a:p>
        </p:txBody>
      </p:sp>
      <p:sp>
        <p:nvSpPr>
          <p:cNvPr id="167" name="Flow arrow 1-2"/>
          <p:cNvSpPr/>
          <p:nvPr/>
        </p:nvSpPr>
        <p:spPr>
          <a:xfrm>
            <a:off x="8642000" y="3695000"/>
            <a:ext cx="280000" cy="260000"/>
          </a:xfrm>
          <a:prstGeom prst="rightArrow">
            <a:avLst/>
          </a:prstGeom>
          <a:solidFill>
            <a:srgbClr val="2F5DA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68" name="Flow 1-3"/>
          <p:cNvSpPr/>
          <p:nvPr/>
        </p:nvSpPr>
        <p:spPr>
          <a:xfrm>
            <a:off x="8972000" y="3000000"/>
            <a:ext cx="2656000" cy="1650000"/>
          </a:xfrm>
          <a:prstGeom prst="roundRect">
            <a:avLst>
              <a:gd name="adj" fmla="val 9000"/>
            </a:avLst>
          </a:prstGeom>
          <a:solidFill>
            <a:srgbClr val="E4ECF8"/>
          </a:solidFill>
          <a:ln>
            <a:noFill/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Cleaning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2F5DA8"/>
                </a:solidFill>
                <a:latin typeface="Poppins"/>
                <a:cs typeface="Poppins"/>
              </a:rPr>
              <a:t>200 duplicates removed</a:t>
            </a:r>
          </a:p>
        </p:txBody>
      </p:sp>
      <p:sp>
        <p:nvSpPr>
          <p:cNvPr id="169" name="Flow arrow 1-3"/>
          <p:cNvSpPr/>
          <p:nvPr/>
        </p:nvSpPr>
        <p:spPr>
          <a:xfrm>
            <a:off x="11678000" y="3695000"/>
            <a:ext cx="280000" cy="260000"/>
          </a:xfrm>
          <a:prstGeom prst="rightArrow">
            <a:avLst/>
          </a:prstGeom>
          <a:solidFill>
            <a:srgbClr val="2F5DA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70" name="Flow 1-4"/>
          <p:cNvSpPr/>
          <p:nvPr/>
        </p:nvSpPr>
        <p:spPr>
          <a:xfrm>
            <a:off x="12008000" y="3000000"/>
            <a:ext cx="2656000" cy="1650000"/>
          </a:xfrm>
          <a:prstGeom prst="roundRect">
            <a:avLst>
              <a:gd name="adj" fmla="val 9000"/>
            </a:avLst>
          </a:prstGeom>
          <a:solidFill>
            <a:srgbClr val="E4ECF8"/>
          </a:solidFill>
          <a:ln>
            <a:noFill/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Cleaned data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2F5DA8"/>
                </a:solidFill>
                <a:latin typeface="Poppins"/>
                <a:cs typeface="Poppins"/>
              </a:rPr>
              <a:t>2,930 × 82</a:t>
            </a:r>
          </a:p>
        </p:txBody>
      </p:sp>
      <p:sp>
        <p:nvSpPr>
          <p:cNvPr id="171" name="Flow arrow 1-4"/>
          <p:cNvSpPr/>
          <p:nvPr/>
        </p:nvSpPr>
        <p:spPr>
          <a:xfrm>
            <a:off x="14714000" y="3695000"/>
            <a:ext cx="280000" cy="260000"/>
          </a:xfrm>
          <a:prstGeom prst="rightArrow">
            <a:avLst/>
          </a:prstGeom>
          <a:solidFill>
            <a:srgbClr val="2F5DA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72" name="Flow 1-5"/>
          <p:cNvSpPr/>
          <p:nvPr/>
        </p:nvSpPr>
        <p:spPr>
          <a:xfrm>
            <a:off x="15044000" y="3000000"/>
            <a:ext cx="2656000" cy="16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EDA &amp; statistics</a:t>
            </a:r>
          </a:p>
        </p:txBody>
      </p:sp>
      <p:sp>
        <p:nvSpPr>
          <p:cNvPr id="173" name="Flow 2-1"/>
          <p:cNvSpPr/>
          <p:nvPr/>
        </p:nvSpPr>
        <p:spPr>
          <a:xfrm>
            <a:off x="2900000" y="4980000"/>
            <a:ext cx="2656000" cy="16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Feature engineering</a:t>
            </a:r>
          </a:p>
        </p:txBody>
      </p:sp>
      <p:sp>
        <p:nvSpPr>
          <p:cNvPr id="174" name="Flow arrow 2-1"/>
          <p:cNvSpPr/>
          <p:nvPr/>
        </p:nvSpPr>
        <p:spPr>
          <a:xfrm>
            <a:off x="5606000" y="5675000"/>
            <a:ext cx="280000" cy="260000"/>
          </a:xfrm>
          <a:prstGeom prst="rightArrow">
            <a:avLst/>
          </a:prstGeom>
          <a:solidFill>
            <a:srgbClr val="2F5DA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75" name="Flow 2-2"/>
          <p:cNvSpPr/>
          <p:nvPr/>
        </p:nvSpPr>
        <p:spPr>
          <a:xfrm>
            <a:off x="5936000" y="4980000"/>
            <a:ext cx="2656000" cy="1650000"/>
          </a:xfrm>
          <a:prstGeom prst="roundRect">
            <a:avLst>
              <a:gd name="adj" fmla="val 9000"/>
            </a:avLst>
          </a:prstGeom>
          <a:solidFill>
            <a:srgbClr val="E4ECF8"/>
          </a:solidFill>
          <a:ln>
            <a:noFill/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Encoding + scaling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2F5DA8"/>
                </a:solidFill>
                <a:latin typeface="Poppins"/>
                <a:cs typeface="Poppins"/>
              </a:rPr>
              <a:t>2,930 × 293</a:t>
            </a:r>
          </a:p>
        </p:txBody>
      </p:sp>
      <p:sp>
        <p:nvSpPr>
          <p:cNvPr id="176" name="Flow arrow 2-2"/>
          <p:cNvSpPr/>
          <p:nvPr/>
        </p:nvSpPr>
        <p:spPr>
          <a:xfrm>
            <a:off x="8642000" y="5675000"/>
            <a:ext cx="280000" cy="260000"/>
          </a:xfrm>
          <a:prstGeom prst="rightArrow">
            <a:avLst/>
          </a:prstGeom>
          <a:solidFill>
            <a:srgbClr val="2F5DA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77" name="Flow 2-3"/>
          <p:cNvSpPr/>
          <p:nvPr/>
        </p:nvSpPr>
        <p:spPr>
          <a:xfrm>
            <a:off x="8972000" y="4980000"/>
            <a:ext cx="2656000" cy="1650000"/>
          </a:xfrm>
          <a:prstGeom prst="roundRect">
            <a:avLst>
              <a:gd name="adj" fmla="val 9000"/>
            </a:avLst>
          </a:prstGeom>
          <a:solidFill>
            <a:srgbClr val="E4ECF8"/>
          </a:solidFill>
          <a:ln>
            <a:noFill/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Feature selection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2F5DA8"/>
                </a:solidFill>
                <a:latin typeface="Poppins"/>
                <a:cs typeface="Poppins"/>
              </a:rPr>
              <a:t>279 → 40</a:t>
            </a:r>
          </a:p>
        </p:txBody>
      </p:sp>
      <p:sp>
        <p:nvSpPr>
          <p:cNvPr id="178" name="Flow arrow 2-3"/>
          <p:cNvSpPr/>
          <p:nvPr/>
        </p:nvSpPr>
        <p:spPr>
          <a:xfrm>
            <a:off x="11678000" y="5675000"/>
            <a:ext cx="280000" cy="260000"/>
          </a:xfrm>
          <a:prstGeom prst="rightArrow">
            <a:avLst/>
          </a:prstGeom>
          <a:solidFill>
            <a:srgbClr val="2F5DA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79" name="Flow 2-4"/>
          <p:cNvSpPr/>
          <p:nvPr/>
        </p:nvSpPr>
        <p:spPr>
          <a:xfrm>
            <a:off x="12008000" y="4980000"/>
            <a:ext cx="2656000" cy="1650000"/>
          </a:xfrm>
          <a:prstGeom prst="roundRect">
            <a:avLst>
              <a:gd name="adj" fmla="val 9000"/>
            </a:avLst>
          </a:prstGeom>
          <a:solidFill>
            <a:srgbClr val="E4ECF8"/>
          </a:solidFill>
          <a:ln>
            <a:noFill/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2D63"/>
                </a:solidFill>
                <a:latin typeface="Poppins"/>
                <a:cs typeface="Poppins"/>
              </a:rPr>
              <a:t>PCA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2F5DA8"/>
                </a:solidFill>
                <a:latin typeface="Poppins"/>
                <a:cs typeface="Poppins"/>
              </a:rPr>
              <a:t>175 comps · 95%</a:t>
            </a:r>
          </a:p>
        </p:txBody>
      </p:sp>
      <p:sp>
        <p:nvSpPr>
          <p:cNvPr id="180" name="Flow arrow 2-4"/>
          <p:cNvSpPr/>
          <p:nvPr/>
        </p:nvSpPr>
        <p:spPr>
          <a:xfrm>
            <a:off x="14714000" y="5675000"/>
            <a:ext cx="280000" cy="260000"/>
          </a:xfrm>
          <a:prstGeom prst="rightArrow">
            <a:avLst/>
          </a:prstGeom>
          <a:solidFill>
            <a:srgbClr val="2F5DA8"/>
          </a:solidFill>
          <a:ln>
            <a:noFill/>
          </a:ln>
        </p:spPr>
        <p:txBody>
          <a:bodyPr wrap="square" lIns="180000" tIns="120000" rIns="180000" bIns="120000" rtlCol="0" anchor="t">
            <a:noAutofit/>
          </a:bodyPr>
          <a:lstStyle/>
          <a:p>
            <a:endParaRPr lang="en-US"/>
          </a:p>
        </p:txBody>
      </p:sp>
      <p:sp>
        <p:nvSpPr>
          <p:cNvPr id="181" name="Flow 2-5"/>
          <p:cNvSpPr/>
          <p:nvPr/>
        </p:nvSpPr>
        <p:spPr>
          <a:xfrm>
            <a:off x="15044000" y="4980000"/>
            <a:ext cx="2656000" cy="1650000"/>
          </a:xfrm>
          <a:prstGeom prst="roundRect">
            <a:avLst>
              <a:gd name="adj" fmla="val 9000"/>
            </a:avLst>
          </a:prstGeom>
          <a:solidFill>
            <a:srgbClr val="112D63"/>
          </a:solidFill>
          <a:ln>
            <a:noFill/>
          </a:ln>
        </p:spPr>
        <p:txBody>
          <a:bodyPr wrap="square" lIns="70000" tIns="40000" rIns="70000" bIns="4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oppins"/>
                <a:cs typeface="Poppins"/>
              </a:rPr>
              <a:t>Ready for prediction</a:t>
            </a:r>
          </a:p>
        </p:txBody>
      </p:sp>
      <p:sp>
        <p:nvSpPr>
          <p:cNvPr id="182" name="Findings card"/>
          <p:cNvSpPr/>
          <p:nvPr/>
        </p:nvSpPr>
        <p:spPr>
          <a:xfrm>
            <a:off x="2900000" y="6930000"/>
            <a:ext cx="9700000" cy="28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FDAEA"/>
            </a:solidFill>
          </a:ln>
        </p:spPr>
        <p:txBody>
          <a:bodyPr wrap="square" lIns="260000" tIns="200000" rIns="220000" bIns="16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600" b="1" dirty="0">
                <a:solidFill>
                  <a:srgbClr val="112D63"/>
                </a:solidFill>
                <a:latin typeface="Poppins"/>
                <a:cs typeface="Poppins"/>
              </a:rPr>
              <a:t>Key project findings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200" dirty="0">
                <a:solidFill>
                  <a:srgbClr val="2B2F3A"/>
                </a:solidFill>
                <a:latin typeface="Poppins"/>
                <a:cs typeface="Poppins"/>
              </a:rPr>
              <a:t>Overall Qual and Gr Liv Area correlate most strongly with SalePrice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200" dirty="0">
                <a:solidFill>
                  <a:srgbClr val="2B2F3A"/>
                </a:solidFill>
                <a:latin typeface="Poppins"/>
                <a:cs typeface="Poppins"/>
              </a:rPr>
              <a:t>log1p cut SalePrice skewness from +1.74 to +0.12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200" dirty="0">
                <a:solidFill>
                  <a:srgbClr val="2B2F3A"/>
                </a:solidFill>
                <a:latin typeface="Poppins"/>
                <a:cs typeface="Poppins"/>
              </a:rPr>
              <a:t>40 curated features selected</a:t>
            </a:r>
          </a:p>
          <a:p>
            <a:pPr marL="400050" indent="-4000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5DA8"/>
              </a:buClr>
              <a:buFont typeface="Arial"/>
              <a:buChar char="•"/>
            </a:pPr>
            <a:r>
              <a:rPr lang="en-US" sz="2200" dirty="0">
                <a:solidFill>
                  <a:srgbClr val="2B2F3A"/>
                </a:solidFill>
                <a:latin typeface="Poppins"/>
                <a:cs typeface="Poppins"/>
              </a:rPr>
              <a:t>PCA: 95% variance with 175 components</a:t>
            </a:r>
          </a:p>
        </p:txBody>
      </p:sp>
      <p:sp>
        <p:nvSpPr>
          <p:cNvPr id="183" name="Next step"/>
          <p:cNvSpPr/>
          <p:nvPr/>
        </p:nvSpPr>
        <p:spPr>
          <a:xfrm>
            <a:off x="12900000" y="6930000"/>
            <a:ext cx="4800000" cy="2870000"/>
          </a:xfrm>
          <a:prstGeom prst="roundRect">
            <a:avLst>
              <a:gd name="adj" fmla="val 4000"/>
            </a:avLst>
          </a:prstGeom>
          <a:solidFill>
            <a:srgbClr val="112D63"/>
          </a:solidFill>
          <a:ln>
            <a:noFill/>
          </a:ln>
        </p:spPr>
        <p:txBody>
          <a:bodyPr wrap="square" lIns="300000" tIns="100000" rIns="300000" bIns="10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9FB8E6"/>
                </a:solidFill>
                <a:latin typeface="Poppins"/>
                <a:cs typeface="Poppins"/>
              </a:rPr>
              <a:t>NEXT STEP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Poppins"/>
                <a:cs typeface="Poppins"/>
              </a:rPr>
              <a:t>Train and evaluate regression models for SalePrice prediction (MAE, RMSE, R²).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230E0C5F7F31408C24F79FEC3547A8" ma:contentTypeVersion="30" ma:contentTypeDescription="Create a new document." ma:contentTypeScope="" ma:versionID="43aeafdb121866d4c41a050b1c0f9fb4">
  <xsd:schema xmlns:xsd="http://www.w3.org/2001/XMLSchema" xmlns:xs="http://www.w3.org/2001/XMLSchema" xmlns:p="http://schemas.microsoft.com/office/2006/metadata/properties" xmlns:ns2="f8f6405e-9d26-4665-a572-60b6287e955e" xmlns:ns3="75f1d1de-8b6f-4690-bd7e-4a7619080584" targetNamespace="http://schemas.microsoft.com/office/2006/metadata/properties" ma:root="true" ma:fieldsID="a188b3ef85d914b1f0b5272ad37f5517" ns2:_="" ns3:_="">
    <xsd:import namespace="f8f6405e-9d26-4665-a572-60b6287e955e"/>
    <xsd:import namespace="75f1d1de-8b6f-4690-bd7e-4a7619080584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f6405e-9d26-4665-a572-60b6287e955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6ea1b0d9-6ead-405e-a20d-02fb1ff691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f1d1de-8b6f-4690-bd7e-4a7619080584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38ee401d-fe31-4260-9afb-a78595968dbb}" ma:internalName="TaxCatchAll" ma:showField="CatchAllData" ma:web="75f1d1de-8b6f-4690-bd7e-4a76190805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8f6405e-9d26-4665-a572-60b6287e955e">
      <Terms xmlns="http://schemas.microsoft.com/office/infopath/2007/PartnerControls"/>
    </lcf76f155ced4ddcb4097134ff3c332f>
    <TaxCatchAll xmlns="75f1d1de-8b6f-4690-bd7e-4a7619080584" xsi:nil="true"/>
    <Self_Registration_Enabled xmlns="f8f6405e-9d26-4665-a572-60b6287e955e" xsi:nil="true"/>
    <Teachers xmlns="f8f6405e-9d26-4665-a572-60b6287e955e">
      <UserInfo>
        <DisplayName/>
        <AccountId xsi:nil="true"/>
        <AccountType/>
      </UserInfo>
    </Teachers>
    <Distribution_Groups xmlns="f8f6405e-9d26-4665-a572-60b6287e955e" xsi:nil="true"/>
    <Invited_Teachers xmlns="f8f6405e-9d26-4665-a572-60b6287e955e" xsi:nil="true"/>
    <IsNotebookLocked xmlns="f8f6405e-9d26-4665-a572-60b6287e955e" xsi:nil="true"/>
    <Is_Collaboration_Space_Locked xmlns="f8f6405e-9d26-4665-a572-60b6287e955e" xsi:nil="true"/>
    <Templates xmlns="f8f6405e-9d26-4665-a572-60b6287e955e" xsi:nil="true"/>
    <Has_Teacher_Only_SectionGroup xmlns="f8f6405e-9d26-4665-a572-60b6287e955e" xsi:nil="true"/>
    <FolderType xmlns="f8f6405e-9d26-4665-a572-60b6287e955e" xsi:nil="true"/>
    <CultureName xmlns="f8f6405e-9d26-4665-a572-60b6287e955e" xsi:nil="true"/>
    <LMS_Mappings xmlns="f8f6405e-9d26-4665-a572-60b6287e955e" xsi:nil="true"/>
    <NotebookType xmlns="f8f6405e-9d26-4665-a572-60b6287e955e" xsi:nil="true"/>
    <Teams_Channel_Section_Location xmlns="f8f6405e-9d26-4665-a572-60b6287e955e" xsi:nil="true"/>
    <Math_Settings xmlns="f8f6405e-9d26-4665-a572-60b6287e955e" xsi:nil="true"/>
    <Owner xmlns="f8f6405e-9d26-4665-a572-60b6287e955e">
      <UserInfo>
        <DisplayName/>
        <AccountId xsi:nil="true"/>
        <AccountType/>
      </UserInfo>
    </Owner>
    <Students xmlns="f8f6405e-9d26-4665-a572-60b6287e955e">
      <UserInfo>
        <DisplayName/>
        <AccountId xsi:nil="true"/>
        <AccountType/>
      </UserInfo>
    </Students>
    <Student_Groups xmlns="f8f6405e-9d26-4665-a572-60b6287e955e">
      <UserInfo>
        <DisplayName/>
        <AccountId xsi:nil="true"/>
        <AccountType/>
      </UserInfo>
    </Student_Groups>
    <AppVersion xmlns="f8f6405e-9d26-4665-a572-60b6287e955e" xsi:nil="true"/>
    <TeamsChannelId xmlns="f8f6405e-9d26-4665-a572-60b6287e955e" xsi:nil="true"/>
    <Invited_Students xmlns="f8f6405e-9d26-4665-a572-60b6287e955e" xsi:nil="true"/>
    <DefaultSectionNames xmlns="f8f6405e-9d26-4665-a572-60b6287e955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FDA871-35C3-49FC-BE2F-8D9ECBCC2D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f6405e-9d26-4665-a572-60b6287e955e"/>
    <ds:schemaRef ds:uri="75f1d1de-8b6f-4690-bd7e-4a76190805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78F222-1B32-4B85-AB90-876A769BC140}">
  <ds:schemaRefs>
    <ds:schemaRef ds:uri="http://schemas.microsoft.com/office/2006/metadata/properties"/>
    <ds:schemaRef ds:uri="http://schemas.microsoft.com/office/infopath/2007/PartnerControls"/>
    <ds:schemaRef ds:uri="d75b73e7-722c-4013-b0ab-557461f00139"/>
    <ds:schemaRef ds:uri="123cd861-5ec8-471f-a092-4a549bd61773"/>
    <ds:schemaRef ds:uri="f8f6405e-9d26-4665-a572-60b6287e955e"/>
    <ds:schemaRef ds:uri="75f1d1de-8b6f-4690-bd7e-4a7619080584"/>
  </ds:schemaRefs>
</ds:datastoreItem>
</file>

<file path=customXml/itemProps3.xml><?xml version="1.0" encoding="utf-8"?>
<ds:datastoreItem xmlns:ds="http://schemas.openxmlformats.org/officeDocument/2006/customXml" ds:itemID="{933E3D7C-5C3D-4B60-9674-3050C6F34F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612</Words>
  <Application>Microsoft Office PowerPoint</Application>
  <PresentationFormat>Custom</PresentationFormat>
  <Paragraphs>163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Times New Roman</vt:lpstr>
      <vt:lpstr>Calibri</vt:lpstr>
      <vt:lpstr>Poppins Bold</vt:lpstr>
      <vt:lpstr>Poppins Bold Italics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and Visualization 24ADI204</dc:title>
  <cp:lastModifiedBy>Santhosh P 25BAD101</cp:lastModifiedBy>
  <cp:revision>101</cp:revision>
  <dcterms:created xsi:type="dcterms:W3CDTF">2006-08-16T00:00:00Z</dcterms:created>
  <dcterms:modified xsi:type="dcterms:W3CDTF">2026-10-14T09:49:48Z</dcterms:modified>
  <dc:identifier>DAHC23RksKI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0x0101004F230E0C5F7F31408C24F79FEC3547A8</vt:lpwstr>
  </property>
  <property fmtid="{D5CDD505-2E9C-101B-9397-08002B2CF9AE}" pid="3" name="MediaServiceImageTags">
    <vt:lpwstr/>
  </property>
</Properties>
</file>