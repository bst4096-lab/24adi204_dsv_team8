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7772400" cy="10058400"/>
  <p:embeddedFontLst>
    <p:embeddedFont>
      <p:font typeface="Aptos Display"/>
    </p:embeddedFont>
    <p:embeddedFont>
      <p:font typeface="Aptos"/>
    </p:embeddedFont>
    <p:embeddedFont>
      <p:font typeface="Noto Sans CJK SC"/>
      <p:regular r:id="rId16"/>
      <p:bold r:id="rId16"/>
    </p:embeddedFont>
    <p:embeddedFont>
      <p:font typeface="Noto Sans Devanagari"/>
      <p:regular r:id="rId17"/>
      <p:bold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Noto_Sans_CJK_SC_Regular.fntdata"/><Relationship Id="rId17" Type="http://schemas.openxmlformats.org/officeDocument/2006/relationships/font" Target="fonts/Font_2_Noto_Sans_Devanagari_Regular.fntdata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1DB23B-4509-45F3-BEBB-37C526357A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1D7093-37FA-4DA5-AD18-20D420834D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583FF8-0674-47E1-8324-2929975F19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F2A635-47EC-4930-9472-5ED304345D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FCE58A-07D9-45C5-A15E-4B56117B38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DB60F-C0A4-492D-83D4-7D9C237E79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48232-A73E-44EB-A17A-5523206B34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28D106-27FC-46AC-97D9-75BC40887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47B6E-9E70-4878-A31D-00A489DFC5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89BA6-A345-4DB9-9790-C4CAC8C0DE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1F9C97-A6D8-498A-879B-C8A03C7E9D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228600" y="190440"/>
            <a:ext cx="1299600" cy="1278360"/>
          </a:xfrm>
          <a:custGeom>
            <a:avLst/>
            <a:gdLst>
              <a:gd name="textAreaLeft" fmla="*/ 0 w 1299600"/>
              <a:gd name="textAreaRight" fmla="*/ 1299960 w 1299600"/>
              <a:gd name="textAreaTop" fmla="*/ 0 h 1278360"/>
              <a:gd name="textAreaBottom" fmla="*/ 1278720 h 1278360"/>
            </a:gdLst>
            <a:ahLst/>
            <a:cxnLst/>
            <a:rect l="textAreaLeft" t="textAreaTop" r="textAreaRight" b="textAreaBottom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Freeform 3"/>
          <p:cNvSpPr/>
          <p:nvPr/>
        </p:nvSpPr>
        <p:spPr>
          <a:xfrm>
            <a:off x="15737760" y="190440"/>
            <a:ext cx="2518560" cy="945360"/>
          </a:xfrm>
          <a:custGeom>
            <a:avLst/>
            <a:gdLst>
              <a:gd name="textAreaLeft" fmla="*/ 0 w 2518560"/>
              <a:gd name="textAreaRight" fmla="*/ 2518920 w 2518560"/>
              <a:gd name="textAreaTop" fmla="*/ 0 h 945360"/>
              <a:gd name="textAreaBottom" fmla="*/ 945720 h 945360"/>
            </a:gdLst>
            <a:ahLst/>
            <a:cxnLst/>
            <a:rect l="textAreaLeft" t="textAreaTop" r="textAreaRight" b="textAreaBottom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2743200" y="731520"/>
            <a:ext cx="128012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996"/>
              </a:lnSpc>
            </a:pPr>
            <a:r>
              <a:rPr lang="en-US" sz="29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Artificial Intelligence and Data Science</a:t>
            </a:r>
            <a:br>
              <a:rPr sz="2900"/>
            </a:br>
            <a:r>
              <a:rPr lang="en-US" sz="29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Data Science and Visualization</a:t>
            </a:r>
            <a:br>
              <a:rPr sz="2900"/>
            </a:br>
            <a:r>
              <a:rPr lang="en-US" sz="29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24ADI204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3474720" y="3154680"/>
            <a:ext cx="11338200" cy="6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986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4572000" y="48006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068"/>
              </a:lnSpc>
            </a:pPr>
            <a:r>
              <a:rPr lang="en-US" sz="18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TEAM 8  |  AMES HOUSING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4572000" y="40690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963"/>
              </a:lnSpc>
            </a:pPr>
            <a:r>
              <a:rPr lang="en-US" sz="1800" b="1" u="none" strike="noStrike">
                <a:solidFill>
                  <a:srgbClr val="1F8F8B"/>
                </a:solidFill>
                <a:effectLst/>
                <a:uFillTx/>
                <a:latin typeface="Aptos"/>
              </a:rPr>
              <a:t>WEEK 1–7 REVIEW  |  OCTOBER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4572000" y="78638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GitHub: bst4096-lab/24ADI204_DSV_Team8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"/>
          <p:cNvGrpSpPr/>
          <p:nvPr/>
        </p:nvGrpSpPr>
        <p:grpSpPr>
          <a:xfrm>
            <a:off x="0" y="576720"/>
            <a:ext cx="18287640" cy="1709280"/>
            <a:chOff x="0" y="576720"/>
            <a:chExt cx="18287640" cy="1709280"/>
          </a:xfrm>
        </p:grpSpPr>
        <p:sp>
          <p:nvSpPr>
            <p:cNvPr id="69" name="Freeform 3"/>
            <p:cNvSpPr/>
            <p:nvPr/>
          </p:nvSpPr>
          <p:spPr>
            <a:xfrm>
              <a:off x="0" y="810360"/>
              <a:ext cx="18287640" cy="1475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75640"/>
                <a:gd name="textAreaBottom" fmla="*/ 1476000 h 147564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0" name="TextBox 4"/>
            <p:cNvSpPr/>
            <p:nvPr/>
          </p:nvSpPr>
          <p:spPr>
            <a:xfrm>
              <a:off x="0" y="576720"/>
              <a:ext cx="17728560" cy="170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1" name="TextBox 5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23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73" name="Rounded Rectangle 8"/>
          <p:cNvSpPr/>
          <p:nvPr/>
        </p:nvSpPr>
        <p:spPr>
          <a:xfrm>
            <a:off x="1005840" y="3429000"/>
            <a:ext cx="7772040" cy="16912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1207080" y="3108960"/>
            <a:ext cx="742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THE PROBLEM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207080" y="3593520"/>
            <a:ext cx="740628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House-sale prices depend on many interacting attributes: overall quality, living area, location, construction details and amenities. Raw housing data also contains missing values and inconsistent representations that can distort conclusions.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2"/>
          <p:cNvSpPr/>
          <p:nvPr/>
        </p:nvSpPr>
        <p:spPr>
          <a:xfrm>
            <a:off x="9144000" y="3492720"/>
            <a:ext cx="8046360" cy="16275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4"/>
          <p:cNvSpPr/>
          <p:nvPr/>
        </p:nvSpPr>
        <p:spPr>
          <a:xfrm>
            <a:off x="9345240" y="3108960"/>
            <a:ext cx="7698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OUR QUESTION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5"/>
          <p:cNvSpPr/>
          <p:nvPr/>
        </p:nvSpPr>
        <p:spPr>
          <a:xfrm>
            <a:off x="9345240" y="3593520"/>
            <a:ext cx="768060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Which property characteristics show the clearest relationships with SalePrice, and how can a reproducible data workflow turn the raw records into reliable, explainable market insights?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6"/>
          <p:cNvSpPr/>
          <p:nvPr/>
        </p:nvSpPr>
        <p:spPr>
          <a:xfrm>
            <a:off x="1097280" y="5715000"/>
            <a:ext cx="1572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20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Project direction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7"/>
          <p:cNvSpPr/>
          <p:nvPr/>
        </p:nvSpPr>
        <p:spPr>
          <a:xfrm>
            <a:off x="1097280" y="6355080"/>
            <a:ext cx="15453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Audit the data before interpreting it; document cleaning decisions; explore distributions and relationships; engineer useful features; and prepare the analysis for later feature selection and PCA. Correlation is treated as association, not proof of causation.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8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9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02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0" y="528840"/>
            <a:ext cx="18287640" cy="1757160"/>
            <a:chOff x="0" y="528840"/>
            <a:chExt cx="18287640" cy="1757160"/>
          </a:xfrm>
        </p:grpSpPr>
        <p:sp>
          <p:nvSpPr>
            <p:cNvPr id="84" name="Freeform 3"/>
            <p:cNvSpPr/>
            <p:nvPr/>
          </p:nvSpPr>
          <p:spPr>
            <a:xfrm>
              <a:off x="0" y="768960"/>
              <a:ext cx="18287640" cy="15170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17040"/>
                <a:gd name="textAreaBottom" fmla="*/ 1517400 h 151704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" name="TextBox 4"/>
            <p:cNvSpPr/>
            <p:nvPr/>
          </p:nvSpPr>
          <p:spPr>
            <a:xfrm>
              <a:off x="0" y="528840"/>
              <a:ext cx="17728560" cy="175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6" name="TextBox 5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23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Project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2860560" y="4821840"/>
            <a:ext cx="1470672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3000" b="0" u="none" strike="noStrike">
              <a:solidFill>
                <a:srgbClr val="545454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89" name="Rounded Rectangle 8"/>
          <p:cNvSpPr/>
          <p:nvPr/>
        </p:nvSpPr>
        <p:spPr>
          <a:xfrm>
            <a:off x="1005840" y="3429000"/>
            <a:ext cx="5074560" cy="12340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1207080" y="31089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01  Inspect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1207080" y="3593520"/>
            <a:ext cx="4708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Profile dimensions, column names, data types, missingness and duplicate rows.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2"/>
          <p:cNvSpPr/>
          <p:nvPr/>
        </p:nvSpPr>
        <p:spPr>
          <a:xfrm>
            <a:off x="6492240" y="3492720"/>
            <a:ext cx="5074560" cy="1170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6693480" y="31089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02  Clean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5"/>
          <p:cNvSpPr/>
          <p:nvPr/>
        </p:nvSpPr>
        <p:spPr>
          <a:xfrm>
            <a:off x="6693480" y="3593520"/>
            <a:ext cx="4708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Use conservative, documented cleaning rather than blindly filling every blank.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6"/>
          <p:cNvSpPr/>
          <p:nvPr/>
        </p:nvSpPr>
        <p:spPr>
          <a:xfrm>
            <a:off x="11978640" y="3492720"/>
            <a:ext cx="5074560" cy="1170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12179880" y="31089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03  Explore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12179880" y="3593520"/>
            <a:ext cx="4708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Summarize numeric variables and inspect SalePrice distributions and relationships.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0"/>
          <p:cNvSpPr/>
          <p:nvPr/>
        </p:nvSpPr>
        <p:spPr>
          <a:xfrm>
            <a:off x="1005840" y="5641560"/>
            <a:ext cx="5074560" cy="1170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1207080" y="525780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04  Engineer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1207080" y="5742360"/>
            <a:ext cx="4708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Create derived housing attributes when source columns are available and aligned.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24"/>
          <p:cNvSpPr/>
          <p:nvPr/>
        </p:nvSpPr>
        <p:spPr>
          <a:xfrm>
            <a:off x="6492240" y="5641560"/>
            <a:ext cx="5074560" cy="1170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6"/>
          <p:cNvSpPr/>
          <p:nvPr/>
        </p:nvSpPr>
        <p:spPr>
          <a:xfrm>
            <a:off x="6693480" y="525780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05  Communicate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6693480" y="5742360"/>
            <a:ext cx="4708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Generate repeatable tables, plots and reports; keep the workflow in GitHub.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1143000" y="7543800"/>
            <a:ext cx="1554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Week 1–7 emphasis: data quality → EDA → feature engineering → feature selection / PCA review.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03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2"/>
          <p:cNvGrpSpPr/>
          <p:nvPr/>
        </p:nvGrpSpPr>
        <p:grpSpPr>
          <a:xfrm>
            <a:off x="0" y="658440"/>
            <a:ext cx="18287640" cy="1627560"/>
            <a:chOff x="0" y="658440"/>
            <a:chExt cx="18287640" cy="1627560"/>
          </a:xfrm>
        </p:grpSpPr>
        <p:sp>
          <p:nvSpPr>
            <p:cNvPr id="108" name="Freeform 3"/>
            <p:cNvSpPr/>
            <p:nvPr/>
          </p:nvSpPr>
          <p:spPr>
            <a:xfrm>
              <a:off x="0" y="880920"/>
              <a:ext cx="18287640" cy="140508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05080"/>
                <a:gd name="textAreaBottom" fmla="*/ 1405440 h 140508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" name="TextBox 4"/>
            <p:cNvSpPr/>
            <p:nvPr/>
          </p:nvSpPr>
          <p:spPr>
            <a:xfrm>
              <a:off x="0" y="658440"/>
              <a:ext cx="17728560" cy="162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0" name="TextBox 5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23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Scope of the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2814120" y="5009760"/>
            <a:ext cx="2742840" cy="53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113" name="Rounded Rectangle 7"/>
          <p:cNvSpPr/>
          <p:nvPr/>
        </p:nvSpPr>
        <p:spPr>
          <a:xfrm>
            <a:off x="1005840" y="3401280"/>
            <a:ext cx="5074560" cy="20851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1207080" y="301752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IN SCOPE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1207080" y="3502080"/>
            <a:ext cx="470880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Ames Housing dataset audit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Missing-value and duplicate review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Descriptive statistics and EDA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SalePrice distribution and correlation outputs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Reusable cleaning / feature-engineering functions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Git-based reproducibility and tests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1"/>
          <p:cNvSpPr/>
          <p:nvPr/>
        </p:nvSpPr>
        <p:spPr>
          <a:xfrm>
            <a:off x="6446520" y="3401280"/>
            <a:ext cx="5074560" cy="20851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6647760" y="301752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WEEK 6–7 PIPELINE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6647760" y="3502080"/>
            <a:ext cx="470880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Scaling / normalization and categorical encoding where appropriate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Skewness review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Feature selection using correlation / redundancy checks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PCA and explained-variance visualization, subject to notebook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5"/>
          <p:cNvSpPr/>
          <p:nvPr/>
        </p:nvSpPr>
        <p:spPr>
          <a:xfrm>
            <a:off x="11884680" y="3401280"/>
            <a:ext cx="5074560" cy="20851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7"/>
          <p:cNvSpPr/>
          <p:nvPr/>
        </p:nvSpPr>
        <p:spPr>
          <a:xfrm>
            <a:off x="12088440" y="3017520"/>
            <a:ext cx="4727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Future Scope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8"/>
          <p:cNvSpPr/>
          <p:nvPr/>
        </p:nvSpPr>
        <p:spPr>
          <a:xfrm>
            <a:off x="12088440" y="3502080"/>
            <a:ext cx="470880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No unverified PCA result or variance percentage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No predictive model accuracy claim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No causal claim from correlations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• No final interactive dashboard unless a working artifact is demonstrated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9"/>
          <p:cNvSpPr/>
          <p:nvPr/>
        </p:nvSpPr>
        <p:spPr>
          <a:xfrm>
            <a:off x="1097280" y="5806440"/>
            <a:ext cx="159102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0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1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04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2"/>
          <p:cNvGrpSpPr/>
          <p:nvPr/>
        </p:nvGrpSpPr>
        <p:grpSpPr>
          <a:xfrm>
            <a:off x="0" y="21960"/>
            <a:ext cx="18287640" cy="1806840"/>
            <a:chOff x="0" y="21960"/>
            <a:chExt cx="18287640" cy="1806840"/>
          </a:xfrm>
        </p:grpSpPr>
        <p:sp>
          <p:nvSpPr>
            <p:cNvPr id="126" name="Freeform 3"/>
            <p:cNvSpPr/>
            <p:nvPr/>
          </p:nvSpPr>
          <p:spPr>
            <a:xfrm>
              <a:off x="0" y="269280"/>
              <a:ext cx="18287640" cy="15595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59520"/>
                <a:gd name="textAreaBottom" fmla="*/ 1559880 h 155952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" name="TextBox 4"/>
            <p:cNvSpPr/>
            <p:nvPr/>
          </p:nvSpPr>
          <p:spPr>
            <a:xfrm>
              <a:off x="0" y="21960"/>
              <a:ext cx="17728560" cy="18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8" name="TextBox 5"/>
          <p:cNvSpPr/>
          <p:nvPr/>
        </p:nvSpPr>
        <p:spPr>
          <a:xfrm>
            <a:off x="4422600" y="923040"/>
            <a:ext cx="8839800" cy="11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35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Dataset Description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960480" y="3337920"/>
            <a:ext cx="4983120" cy="16912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1207080" y="3017520"/>
            <a:ext cx="463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SOURCE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1207080" y="3502080"/>
            <a:ext cx="461736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Ames Housing dataset (Ames, Iowa, USA). Source files are maintained in the Team 8 repository. The working project uses the repository’s Week 1–7 dataset files; cite the exact public distribution URL in the final report.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2"/>
          <p:cNvSpPr/>
          <p:nvPr/>
        </p:nvSpPr>
        <p:spPr>
          <a:xfrm>
            <a:off x="6263640" y="3429000"/>
            <a:ext cx="4983120" cy="16455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6464880" y="3017520"/>
            <a:ext cx="463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SIZE REPORTED IN WEEKLY FILES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6464880" y="3502080"/>
            <a:ext cx="461736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1 raw snapshot: 3,130 × 82 (256,660 cells; 17,010 missing = 6.63%). After Week 3 cleaning: 2,930 × 82; 200 rows removed. The notebook reports 0 remaining missing values in the cleaned snapshot.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6"/>
          <p:cNvSpPr/>
          <p:nvPr/>
        </p:nvSpPr>
        <p:spPr>
          <a:xfrm>
            <a:off x="11521440" y="3429000"/>
            <a:ext cx="5486040" cy="16455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11722680" y="3017520"/>
            <a:ext cx="513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TARGET &amp; DATA TYPE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11722680" y="3502080"/>
            <a:ext cx="512028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8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Target: Sale Price. Data type: structured tabular data. Features include property size, quality, year, neighborhood, garage, basement and sale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1097280" y="4983480"/>
            <a:ext cx="15544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1"/>
          <p:cNvSpPr/>
          <p:nvPr/>
        </p:nvSpPr>
        <p:spPr>
          <a:xfrm>
            <a:off x="1097280" y="5623560"/>
            <a:ext cx="3657240" cy="1188360"/>
          </a:xfrm>
          <a:prstGeom prst="roundRect">
            <a:avLst>
              <a:gd name="adj" fmla="val 16667"/>
            </a:avLst>
          </a:prstGeom>
          <a:solidFill>
            <a:srgbClr val="E2F3F0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1234440" y="5760720"/>
            <a:ext cx="3382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1828800" y="6199200"/>
            <a:ext cx="3382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missing cells reported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4"/>
          <p:cNvSpPr/>
          <p:nvPr/>
        </p:nvSpPr>
        <p:spPr>
          <a:xfrm>
            <a:off x="5166360" y="5623560"/>
            <a:ext cx="365724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5"/>
          <p:cNvSpPr/>
          <p:nvPr/>
        </p:nvSpPr>
        <p:spPr>
          <a:xfrm>
            <a:off x="5303520" y="5760720"/>
            <a:ext cx="3382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6"/>
          <p:cNvSpPr/>
          <p:nvPr/>
        </p:nvSpPr>
        <p:spPr>
          <a:xfrm>
            <a:off x="5303520" y="62636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duplicate rows reported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27"/>
          <p:cNvSpPr/>
          <p:nvPr/>
        </p:nvSpPr>
        <p:spPr>
          <a:xfrm>
            <a:off x="9235440" y="5623560"/>
            <a:ext cx="3657240" cy="1188360"/>
          </a:xfrm>
          <a:prstGeom prst="roundRect">
            <a:avLst>
              <a:gd name="adj" fmla="val 16667"/>
            </a:avLst>
          </a:prstGeom>
          <a:solidFill>
            <a:srgbClr val="E2F3F0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8"/>
          <p:cNvSpPr/>
          <p:nvPr/>
        </p:nvSpPr>
        <p:spPr>
          <a:xfrm>
            <a:off x="9372600" y="5760720"/>
            <a:ext cx="3382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1F8F8B"/>
                </a:solidFill>
                <a:effectLst/>
                <a:uFillTx/>
                <a:latin typeface="Aptos"/>
              </a:rPr>
              <a:t>82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9"/>
          <p:cNvSpPr/>
          <p:nvPr/>
        </p:nvSpPr>
        <p:spPr>
          <a:xfrm>
            <a:off x="9372600" y="62636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columns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30"/>
          <p:cNvSpPr/>
          <p:nvPr/>
        </p:nvSpPr>
        <p:spPr>
          <a:xfrm>
            <a:off x="13304520" y="5623560"/>
            <a:ext cx="365724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1"/>
          <p:cNvSpPr/>
          <p:nvPr/>
        </p:nvSpPr>
        <p:spPr>
          <a:xfrm>
            <a:off x="13441680" y="5760720"/>
            <a:ext cx="3382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2,930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2"/>
          <p:cNvSpPr/>
          <p:nvPr/>
        </p:nvSpPr>
        <p:spPr>
          <a:xfrm>
            <a:off x="13441680" y="62636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rows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3"/>
          <p:cNvSpPr/>
          <p:nvPr/>
        </p:nvSpPr>
        <p:spPr>
          <a:xfrm>
            <a:off x="1097280" y="7360920"/>
            <a:ext cx="1581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4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5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05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2"/>
          <p:cNvGrpSpPr/>
          <p:nvPr/>
        </p:nvGrpSpPr>
        <p:grpSpPr>
          <a:xfrm>
            <a:off x="360" y="228600"/>
            <a:ext cx="18287640" cy="1578240"/>
            <a:chOff x="360" y="228600"/>
            <a:chExt cx="18287640" cy="1578240"/>
          </a:xfrm>
        </p:grpSpPr>
        <p:sp>
          <p:nvSpPr>
            <p:cNvPr id="157" name="Freeform 3"/>
            <p:cNvSpPr/>
            <p:nvPr/>
          </p:nvSpPr>
          <p:spPr>
            <a:xfrm>
              <a:off x="360" y="444600"/>
              <a:ext cx="18287640" cy="1362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362240"/>
                <a:gd name="textAreaBottom" fmla="*/ 1362600 h 136224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8" name="TextBox 4"/>
            <p:cNvSpPr/>
            <p:nvPr/>
          </p:nvSpPr>
          <p:spPr>
            <a:xfrm>
              <a:off x="360" y="228600"/>
              <a:ext cx="17728560" cy="157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9" name="TextBox 5"/>
          <p:cNvSpPr/>
          <p:nvPr/>
        </p:nvSpPr>
        <p:spPr>
          <a:xfrm>
            <a:off x="1054440" y="985680"/>
            <a:ext cx="161784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35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Methodology | Week 1–7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162" name="Rounded Rectangle 8"/>
          <p:cNvSpPr/>
          <p:nvPr/>
        </p:nvSpPr>
        <p:spPr>
          <a:xfrm>
            <a:off x="1097280" y="2743200"/>
            <a:ext cx="15910200" cy="1023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1298520" y="288036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W1–2  |  Acquire &amp; inspect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1"/>
          <p:cNvSpPr/>
          <p:nvPr/>
        </p:nvSpPr>
        <p:spPr>
          <a:xfrm>
            <a:off x="1298520" y="3364920"/>
            <a:ext cx="1554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Load CSV with pandas; inspect shape, schema, data types, target and first-impression profile.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2"/>
          <p:cNvSpPr/>
          <p:nvPr/>
        </p:nvSpPr>
        <p:spPr>
          <a:xfrm>
            <a:off x="1097280" y="4069080"/>
            <a:ext cx="15910200" cy="1023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1298520" y="420624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W3  |  Clean &amp; audit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1298520" y="4690800"/>
            <a:ext cx="1554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Review missing values, duplicates, empty columns and inconsistent markers; document decisions.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6"/>
          <p:cNvSpPr/>
          <p:nvPr/>
        </p:nvSpPr>
        <p:spPr>
          <a:xfrm>
            <a:off x="1097280" y="5394960"/>
            <a:ext cx="15910200" cy="1023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1298520" y="553212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W4–5  |  EDA &amp; review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1298520" y="6016680"/>
            <a:ext cx="1554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Produce descriptive summaries, target distribution, missingness plots and target-correlation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20"/>
          <p:cNvSpPr/>
          <p:nvPr/>
        </p:nvSpPr>
        <p:spPr>
          <a:xfrm>
            <a:off x="1097280" y="6720840"/>
            <a:ext cx="15910200" cy="1023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2"/>
          <p:cNvSpPr/>
          <p:nvPr/>
        </p:nvSpPr>
        <p:spPr>
          <a:xfrm>
            <a:off x="1298520" y="685800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W6  |  Feature engineering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3"/>
          <p:cNvSpPr/>
          <p:nvPr/>
        </p:nvSpPr>
        <p:spPr>
          <a:xfrm>
            <a:off x="1298520" y="7342560"/>
            <a:ext cx="1554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Create supported derived variables; review skewness and prepare scaling / encoding where appropriate.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24"/>
          <p:cNvSpPr/>
          <p:nvPr/>
        </p:nvSpPr>
        <p:spPr>
          <a:xfrm>
            <a:off x="1097280" y="8046720"/>
            <a:ext cx="15910200" cy="1023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1298520" y="818388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W7  |  Selection &amp; PCA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7"/>
          <p:cNvSpPr/>
          <p:nvPr/>
        </p:nvSpPr>
        <p:spPr>
          <a:xfrm>
            <a:off x="1298520" y="8668440"/>
            <a:ext cx="1554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Review correlated features and dimensionality-reduction work; verify explained-variance outputs before claiming completion.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8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9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06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2"/>
          <p:cNvGrpSpPr/>
          <p:nvPr/>
        </p:nvGrpSpPr>
        <p:grpSpPr>
          <a:xfrm>
            <a:off x="360" y="497880"/>
            <a:ext cx="18287640" cy="1806840"/>
            <a:chOff x="360" y="497880"/>
            <a:chExt cx="18287640" cy="1806840"/>
          </a:xfrm>
        </p:grpSpPr>
        <p:sp>
          <p:nvSpPr>
            <p:cNvPr id="180" name="Freeform 3"/>
            <p:cNvSpPr/>
            <p:nvPr/>
          </p:nvSpPr>
          <p:spPr>
            <a:xfrm>
              <a:off x="360" y="745200"/>
              <a:ext cx="18287640" cy="15595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59520"/>
                <a:gd name="textAreaBottom" fmla="*/ 1559880 h 155952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1" name="TextBox 4"/>
            <p:cNvSpPr/>
            <p:nvPr/>
          </p:nvSpPr>
          <p:spPr>
            <a:xfrm>
              <a:off x="360" y="497880"/>
              <a:ext cx="17728560" cy="18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82" name="TextBox 5"/>
          <p:cNvSpPr/>
          <p:nvPr/>
        </p:nvSpPr>
        <p:spPr>
          <a:xfrm>
            <a:off x="2022120" y="3570120"/>
            <a:ext cx="956772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249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Week 3–5 | Data Preprocessing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185" name="Rounded Rectangle 8"/>
          <p:cNvSpPr/>
          <p:nvPr/>
        </p:nvSpPr>
        <p:spPr>
          <a:xfrm>
            <a:off x="1005840" y="3200400"/>
            <a:ext cx="5074560" cy="1371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1207080" y="28803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AUDIT CHECKS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120708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Raw: 3,130 × 82; 17,010 missing cells (6.63%)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Cleaned: 2,930 × 82 after 200 records removed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Week 3 notebook reports 0 remaining nulls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Verify duplicates, target and column schema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2"/>
          <p:cNvSpPr/>
          <p:nvPr/>
        </p:nvSpPr>
        <p:spPr>
          <a:xfrm>
            <a:off x="6446520" y="3200400"/>
            <a:ext cx="5074560" cy="1371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6647760" y="28803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CLEANING LOGIC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664776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Treat amenity blanks by domain meaning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Remove 200 non-standard records as documented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Inspect outliers using domain rules / plots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Keep raw data and log every decision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16"/>
          <p:cNvSpPr/>
          <p:nvPr/>
        </p:nvSpPr>
        <p:spPr>
          <a:xfrm>
            <a:off x="11887200" y="3200400"/>
            <a:ext cx="5074560" cy="1371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12088440" y="2880360"/>
            <a:ext cx="4727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REPRODUCIBILITY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1208844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Week 3 cleaning notebook and cleaned CSV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Week 5 audit / statistics notebook and report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Reusable audit scripts and selected tests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Regenerate final outputs from one input file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1097280" y="5166360"/>
            <a:ext cx="1572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3 notebook: 200 rows removed (6.39%); cleaned data = 2,930 × 82 with 0 nulls. Validate the exact CSV version before submission.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Table 21"/>
          <p:cNvGraphicFramePr/>
          <p:nvPr/>
        </p:nvGraphicFramePr>
        <p:xfrm>
          <a:off x="1097280" y="5669280"/>
          <a:ext cx="15727320" cy="347472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8229600"/>
              </a:tblGrid>
              <a:tr h="694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CHECK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OBSERVATION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INTERPRETATION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Raw dataset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3,130 rows × 82 columns; 17,010 missing cells (6.63%)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Baseline quality issue; inspect missingness by field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Cleaning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200 records removed; cleaned dataset = 2,930 × 82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Week 3 notebook reports zero remaining missing cells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Schema / duplicates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Audit dimensions, duplicate rows, SalePrice presence and column alignment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Validate against the selected authoritative file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95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Reproducibility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Cleaning notebook, CSVs, audit scripts and tests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Re-run from the same input before final submission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6" name="TextBox 22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07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2"/>
          <p:cNvGrpSpPr/>
          <p:nvPr/>
        </p:nvGrpSpPr>
        <p:grpSpPr>
          <a:xfrm>
            <a:off x="0" y="228600"/>
            <a:ext cx="18287640" cy="1578240"/>
            <a:chOff x="0" y="228600"/>
            <a:chExt cx="18287640" cy="1578240"/>
          </a:xfrm>
        </p:grpSpPr>
        <p:sp>
          <p:nvSpPr>
            <p:cNvPr id="199" name="Freeform 3"/>
            <p:cNvSpPr/>
            <p:nvPr/>
          </p:nvSpPr>
          <p:spPr>
            <a:xfrm>
              <a:off x="0" y="444600"/>
              <a:ext cx="18287640" cy="1362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362240"/>
                <a:gd name="textAreaBottom" fmla="*/ 1362600 h 136224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0" name="TextBox 4"/>
            <p:cNvSpPr/>
            <p:nvPr/>
          </p:nvSpPr>
          <p:spPr>
            <a:xfrm>
              <a:off x="0" y="228600"/>
              <a:ext cx="17728560" cy="157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01" name="TextBox 5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35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Week 4–5 | Exploratory Data Analysis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1054440" y="985680"/>
            <a:ext cx="161784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1005840" y="3200400"/>
            <a:ext cx="5074560" cy="182880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1207080" y="28803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SUMMARY STATISTICS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120708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4 correlations with SalePrice (Pearson r): Overall Qual 0.7993; Gr Liv Area 0.7068; Garage Cars 0.6476; Garage Area 0.6404; Total Bsmt SF 0.6323. These are associations, not causal effects.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2"/>
          <p:cNvSpPr/>
          <p:nvPr/>
        </p:nvSpPr>
        <p:spPr>
          <a:xfrm>
            <a:off x="6446520" y="3200400"/>
            <a:ext cx="5074560" cy="182880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647760" y="28803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DISTRIBUTION ANALYSIS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64776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5 reports SalePrice skewness = +1.74, indicating a right-skewed distribution. Week 6 log1p transformation reduces skewness to +0.12. Use histograms / KDE before and after transformation to show the change.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11887200" y="3200400"/>
            <a:ext cx="5074560" cy="18745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8"/>
          <p:cNvSpPr/>
          <p:nvPr/>
        </p:nvSpPr>
        <p:spPr>
          <a:xfrm>
            <a:off x="12088440" y="288036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CORRELATION FINDINGS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12088440" y="3364920"/>
            <a:ext cx="47088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Week 4 analysis ranks Overall Qual (r = 0.7993) and Gr Liv Area (r = 0.7068) highest among the listed numeric predictors, followed by Garage Cars, Garage Area and Total Bsmt SF. Validate interpretation against the selected dataset and correlation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1097280" y="5074920"/>
            <a:ext cx="15727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21"/>
          <p:cNvSpPr/>
          <p:nvPr/>
        </p:nvSpPr>
        <p:spPr>
          <a:xfrm>
            <a:off x="1097280" y="5623560"/>
            <a:ext cx="480024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3"/>
          <p:cNvSpPr/>
          <p:nvPr/>
        </p:nvSpPr>
        <p:spPr>
          <a:xfrm>
            <a:off x="1298520" y="5760720"/>
            <a:ext cx="445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data_quality_report.csv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4"/>
          <p:cNvSpPr/>
          <p:nvPr/>
        </p:nvSpPr>
        <p:spPr>
          <a:xfrm>
            <a:off x="1298520" y="624528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Dataset health / missingness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25"/>
          <p:cNvSpPr/>
          <p:nvPr/>
        </p:nvSpPr>
        <p:spPr>
          <a:xfrm>
            <a:off x="6355080" y="5623560"/>
            <a:ext cx="480024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6556320" y="5760720"/>
            <a:ext cx="445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numeric_summary.csv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8"/>
          <p:cNvSpPr/>
          <p:nvPr/>
        </p:nvSpPr>
        <p:spPr>
          <a:xfrm>
            <a:off x="6556320" y="624528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Descriptive statistics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9"/>
          <p:cNvSpPr/>
          <p:nvPr/>
        </p:nvSpPr>
        <p:spPr>
          <a:xfrm>
            <a:off x="11612880" y="5623560"/>
            <a:ext cx="480024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31"/>
          <p:cNvSpPr/>
          <p:nvPr/>
        </p:nvSpPr>
        <p:spPr>
          <a:xfrm>
            <a:off x="11814120" y="5760720"/>
            <a:ext cx="445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target_correlations.csv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2"/>
          <p:cNvSpPr/>
          <p:nvPr/>
        </p:nvSpPr>
        <p:spPr>
          <a:xfrm>
            <a:off x="11814120" y="624528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Numeric features ranked against SalePrice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33"/>
          <p:cNvSpPr/>
          <p:nvPr/>
        </p:nvSpPr>
        <p:spPr>
          <a:xfrm>
            <a:off x="1097280" y="6766560"/>
            <a:ext cx="480024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5"/>
          <p:cNvSpPr/>
          <p:nvPr/>
        </p:nvSpPr>
        <p:spPr>
          <a:xfrm>
            <a:off x="1298520" y="6903720"/>
            <a:ext cx="445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saleprice_distribution.png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6"/>
          <p:cNvSpPr/>
          <p:nvPr/>
        </p:nvSpPr>
        <p:spPr>
          <a:xfrm>
            <a:off x="1298520" y="738828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Target distribution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37"/>
          <p:cNvSpPr/>
          <p:nvPr/>
        </p:nvSpPr>
        <p:spPr>
          <a:xfrm>
            <a:off x="6355080" y="6766560"/>
            <a:ext cx="480024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39"/>
          <p:cNvSpPr/>
          <p:nvPr/>
        </p:nvSpPr>
        <p:spPr>
          <a:xfrm>
            <a:off x="6556320" y="6903720"/>
            <a:ext cx="44528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Missingness.csv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0"/>
          <p:cNvSpPr/>
          <p:nvPr/>
        </p:nvSpPr>
        <p:spPr>
          <a:xfrm>
            <a:off x="6556320" y="738828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Missing-value pattern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42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43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08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2"/>
          <p:cNvGrpSpPr/>
          <p:nvPr/>
        </p:nvGrpSpPr>
        <p:grpSpPr>
          <a:xfrm>
            <a:off x="360" y="228600"/>
            <a:ext cx="18287640" cy="1578240"/>
            <a:chOff x="360" y="228600"/>
            <a:chExt cx="18287640" cy="1578240"/>
          </a:xfrm>
        </p:grpSpPr>
        <p:sp>
          <p:nvSpPr>
            <p:cNvPr id="232" name="Freeform 3"/>
            <p:cNvSpPr/>
            <p:nvPr/>
          </p:nvSpPr>
          <p:spPr>
            <a:xfrm>
              <a:off x="360" y="444600"/>
              <a:ext cx="18287640" cy="1362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362240"/>
                <a:gd name="textAreaBottom" fmla="*/ 1362600 h 136224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3" name="TextBox 4"/>
            <p:cNvSpPr/>
            <p:nvPr/>
          </p:nvSpPr>
          <p:spPr>
            <a:xfrm>
              <a:off x="360" y="228600"/>
              <a:ext cx="17728560" cy="157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34" name="TextBox 6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35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Dataset Readiness &amp; Expected Final 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1054440" y="985680"/>
            <a:ext cx="161784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237" name="Rounded Rectangle 8"/>
          <p:cNvSpPr/>
          <p:nvPr/>
        </p:nvSpPr>
        <p:spPr>
          <a:xfrm>
            <a:off x="1030320" y="3401280"/>
            <a:ext cx="5074560" cy="2770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1207080" y="301752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IMPROVEMENTS IN PLACE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1207080" y="3502080"/>
            <a:ext cx="47088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Cleaned dataset reported as 2,930 × 82 with 0 missing values in Week 3 notebook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Five engineered features: HouseAge, RemodAge, TotalBathrooms, TotalPorchArea, TotalHouseArea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log1p reduces SalePrice skewness +1.74 → +0.12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Encoded feature matrix: 293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Week 7 feature-selection and PCA exports present in repository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12"/>
          <p:cNvSpPr/>
          <p:nvPr/>
        </p:nvSpPr>
        <p:spPr>
          <a:xfrm>
            <a:off x="6400800" y="3401280"/>
            <a:ext cx="5257800" cy="2770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4"/>
          <p:cNvSpPr/>
          <p:nvPr/>
        </p:nvSpPr>
        <p:spPr>
          <a:xfrm>
            <a:off x="6647760" y="301752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OPEN VALIDATION ITEMS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6647760" y="3502080"/>
            <a:ext cx="47088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Align dataset versions and saved outputs; repository history notes row-count discrepancies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Confirm column-name alignment and rerun end-to-end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Document transformation choices / potential leakage before predictive modeling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Ensure every reported chart maps to the same selected dataset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6"/>
          <p:cNvSpPr/>
          <p:nvPr/>
        </p:nvSpPr>
        <p:spPr>
          <a:xfrm>
            <a:off x="11841840" y="3401280"/>
            <a:ext cx="5303160" cy="2770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8"/>
          <p:cNvSpPr/>
          <p:nvPr/>
        </p:nvSpPr>
        <p:spPr>
          <a:xfrm>
            <a:off x="12088440" y="3017520"/>
            <a:ext cx="472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EXPECTED FINAL DELIVERABLE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9"/>
          <p:cNvSpPr/>
          <p:nvPr/>
        </p:nvSpPr>
        <p:spPr>
          <a:xfrm>
            <a:off x="12088440" y="3502080"/>
            <a:ext cx="47088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Selected_Features_AmesHousing.csv: 40 curated features (per Week 7 README)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PCA_Transformed_AmesHousing.csv: 175 PCs retaining 95% variance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Week 7 notebook reports 279 predictors before PCA, 88 quasi-constant features filtered (191 retained by variance threshold)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Complete narrative dashboard with 5+ plot types for final phase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0"/>
          <p:cNvSpPr/>
          <p:nvPr/>
        </p:nvSpPr>
        <p:spPr>
          <a:xfrm>
            <a:off x="960480" y="6812280"/>
            <a:ext cx="1572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Readiness judgement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21"/>
          <p:cNvSpPr/>
          <p:nvPr/>
        </p:nvSpPr>
        <p:spPr>
          <a:xfrm>
            <a:off x="960480" y="7315560"/>
            <a:ext cx="157273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1–7 coursework now covers acquisition, cleaning, EDA, feature engineering, feature selection and PCA. The repository reports 175 principal components retaining 95% variance; reproducibility still depends on resolving dataset-version differences and regenerating the final evidence from the selected input.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2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3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09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roup 2"/>
          <p:cNvGrpSpPr/>
          <p:nvPr/>
        </p:nvGrpSpPr>
        <p:grpSpPr>
          <a:xfrm>
            <a:off x="0" y="497880"/>
            <a:ext cx="18287640" cy="1806840"/>
            <a:chOff x="0" y="497880"/>
            <a:chExt cx="18287640" cy="1806840"/>
          </a:xfrm>
        </p:grpSpPr>
        <p:sp>
          <p:nvSpPr>
            <p:cNvPr id="251" name="Freeform 3"/>
            <p:cNvSpPr/>
            <p:nvPr/>
          </p:nvSpPr>
          <p:spPr>
            <a:xfrm>
              <a:off x="0" y="745200"/>
              <a:ext cx="18287640" cy="15595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59520"/>
                <a:gd name="textAreaBottom" fmla="*/ 1559880 h 155952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2" name="TextBox 4"/>
            <p:cNvSpPr/>
            <p:nvPr/>
          </p:nvSpPr>
          <p:spPr>
            <a:xfrm>
              <a:off x="0" y="497880"/>
              <a:ext cx="17728560" cy="18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53" name="TextBox 7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249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Roles &amp; Responsibilities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255" name="Table 8"/>
          <p:cNvGraphicFramePr/>
          <p:nvPr/>
        </p:nvGraphicFramePr>
        <p:xfrm>
          <a:off x="1051560" y="2743200"/>
          <a:ext cx="16184520" cy="44802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9784080"/>
              </a:tblGrid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TEAM MEMBER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REGISTER NO.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PRIMARY CONTRIBUTION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2B49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Tarun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25BAD123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 analysis, visualization, correlation review and project integration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Santhosh P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25BAD101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 cleaning, missing-value strategy, quality audit and preprocessing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Siva Chandran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25BAD108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Feature engineering, transformation, encoding and statistical analysis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Santhosh 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25BAD100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Documentation, report preparation, repository organization and presentation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6" name="TextBox 9"/>
          <p:cNvSpPr/>
          <p:nvPr/>
        </p:nvSpPr>
        <p:spPr>
          <a:xfrm>
            <a:off x="1097280" y="7635240"/>
            <a:ext cx="1554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Shared responsibility: review results together, keep weekly lab logs, and ensure every reported finding can be traced to a notebook, script or generated output.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0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10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2"/>
          <p:cNvGrpSpPr/>
          <p:nvPr/>
        </p:nvGrpSpPr>
        <p:grpSpPr>
          <a:xfrm>
            <a:off x="0" y="250560"/>
            <a:ext cx="18287640" cy="1804320"/>
            <a:chOff x="0" y="250560"/>
            <a:chExt cx="18287640" cy="1804320"/>
          </a:xfrm>
        </p:grpSpPr>
        <p:sp>
          <p:nvSpPr>
            <p:cNvPr id="260" name="Freeform 3"/>
            <p:cNvSpPr/>
            <p:nvPr/>
          </p:nvSpPr>
          <p:spPr>
            <a:xfrm>
              <a:off x="0" y="497520"/>
              <a:ext cx="18287640" cy="15573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57360"/>
                <a:gd name="textAreaBottom" fmla="*/ 1557720 h 155736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1" name="TextBox 4"/>
            <p:cNvSpPr/>
            <p:nvPr/>
          </p:nvSpPr>
          <p:spPr>
            <a:xfrm>
              <a:off x="0" y="250560"/>
              <a:ext cx="17728560" cy="180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62" name="TextBox 6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35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Challenges Faced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1054440" y="985680"/>
            <a:ext cx="161784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265" name="Rounded Rectangle 8"/>
          <p:cNvSpPr/>
          <p:nvPr/>
        </p:nvSpPr>
        <p:spPr>
          <a:xfrm>
            <a:off x="1097280" y="2743200"/>
            <a:ext cx="15910200" cy="114300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0"/>
          <p:cNvSpPr/>
          <p:nvPr/>
        </p:nvSpPr>
        <p:spPr>
          <a:xfrm>
            <a:off x="1298520" y="288036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Missing 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Raw notebook snapshot: 17,010 missing cells (6.63%). Structural absence (e.g., no pool / garage amenity) needs domain-aware treatment. The Week 3 notebook reports 0 missing values after cleaning.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1"/>
          <p:cNvSpPr/>
          <p:nvPr/>
        </p:nvSpPr>
        <p:spPr>
          <a:xfrm>
            <a:off x="1298520" y="3364920"/>
            <a:ext cx="1554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ounded Rectangle 12"/>
          <p:cNvSpPr/>
          <p:nvPr/>
        </p:nvSpPr>
        <p:spPr>
          <a:xfrm>
            <a:off x="1097280" y="4041720"/>
            <a:ext cx="1591020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1298520" y="417888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 consistency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notebook reports 3,130 raw rows and 2,930 cleaned rows. Repository notes caution that some saved outputs disagree, so the authoritative input and regenerated results must be documented.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1298520" y="4663440"/>
            <a:ext cx="1554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ounded Rectangle 16"/>
          <p:cNvSpPr/>
          <p:nvPr/>
        </p:nvSpPr>
        <p:spPr>
          <a:xfrm>
            <a:off x="1097280" y="5340240"/>
            <a:ext cx="1591020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8"/>
          <p:cNvSpPr/>
          <p:nvPr/>
        </p:nvSpPr>
        <p:spPr>
          <a:xfrm>
            <a:off x="1298520" y="547740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Schema alignment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9"/>
          <p:cNvSpPr/>
          <p:nvPr/>
        </p:nvSpPr>
        <p:spPr>
          <a:xfrm>
            <a:off x="1298520" y="5961960"/>
            <a:ext cx="1554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Some notebooks use spaced names (e.g., Year Built / Gr Liv Area), while feature code expects unspaced names.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20"/>
          <p:cNvSpPr/>
          <p:nvPr/>
        </p:nvSpPr>
        <p:spPr>
          <a:xfrm>
            <a:off x="1097280" y="6638400"/>
            <a:ext cx="1591020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2"/>
          <p:cNvSpPr/>
          <p:nvPr/>
        </p:nvSpPr>
        <p:spPr>
          <a:xfrm>
            <a:off x="1298520" y="677556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Outliers &amp; skewness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3"/>
          <p:cNvSpPr/>
          <p:nvPr/>
        </p:nvSpPr>
        <p:spPr>
          <a:xfrm>
            <a:off x="1298520" y="7260480"/>
            <a:ext cx="1554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SalePrice and numeric features need distribution checks; outliers should be investigated, not automatically removed.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24"/>
          <p:cNvSpPr/>
          <p:nvPr/>
        </p:nvSpPr>
        <p:spPr>
          <a:xfrm>
            <a:off x="1097280" y="7936920"/>
            <a:ext cx="15910200" cy="14356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6"/>
          <p:cNvSpPr/>
          <p:nvPr/>
        </p:nvSpPr>
        <p:spPr>
          <a:xfrm>
            <a:off x="1298520" y="8074080"/>
            <a:ext cx="1556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selection / PCA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Week 7 notebook reports 279 predictors before selection, removes 88 quasi-constant features, and exports 175 PCs retaining 95% variance. Confirm these exports are regenerated from the same Week 6 feature matrix.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7"/>
          <p:cNvSpPr/>
          <p:nvPr/>
        </p:nvSpPr>
        <p:spPr>
          <a:xfrm>
            <a:off x="1298520" y="8558640"/>
            <a:ext cx="15544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303F"/>
                </a:solidFill>
                <a:effectLst/>
                <a:uFillTx/>
                <a:latin typeface="Apto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8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9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11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2"/>
          <p:cNvGrpSpPr/>
          <p:nvPr/>
        </p:nvGrpSpPr>
        <p:grpSpPr>
          <a:xfrm>
            <a:off x="0" y="685800"/>
            <a:ext cx="18287640" cy="1806840"/>
            <a:chOff x="0" y="685800"/>
            <a:chExt cx="18287640" cy="1806840"/>
          </a:xfrm>
        </p:grpSpPr>
        <p:sp>
          <p:nvSpPr>
            <p:cNvPr id="283" name="Freeform 3"/>
            <p:cNvSpPr/>
            <p:nvPr/>
          </p:nvSpPr>
          <p:spPr>
            <a:xfrm>
              <a:off x="0" y="933120"/>
              <a:ext cx="18287640" cy="15595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559520"/>
                <a:gd name="textAreaBottom" fmla="*/ 1559880 h 155952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4" name="TextBox 4"/>
            <p:cNvSpPr/>
            <p:nvPr/>
          </p:nvSpPr>
          <p:spPr>
            <a:xfrm>
              <a:off x="0" y="685800"/>
              <a:ext cx="17728560" cy="18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85" name="TextBox 6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249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Future Work &amp; 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287" name="Rounded Rectangle 7"/>
          <p:cNvSpPr/>
          <p:nvPr/>
        </p:nvSpPr>
        <p:spPr>
          <a:xfrm>
            <a:off x="1005840" y="3355560"/>
            <a:ext cx="7772040" cy="1581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9"/>
          <p:cNvSpPr/>
          <p:nvPr/>
        </p:nvSpPr>
        <p:spPr>
          <a:xfrm>
            <a:off x="1207080" y="2971800"/>
            <a:ext cx="742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NEXT STEPS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0"/>
          <p:cNvSpPr/>
          <p:nvPr/>
        </p:nvSpPr>
        <p:spPr>
          <a:xfrm>
            <a:off x="1207080" y="3456360"/>
            <a:ext cx="740628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Reconcile the authoritative dataset and record its provenance.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Regenerate audit / EDA reports and figures from that exact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Validate feature engineering, scaling, encoding and skewness treatment.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Re-check Week 7 feature selection / PCA exports against the notebook.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Build the narrative dashboard with at least five plot types.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1"/>
          <p:cNvSpPr/>
          <p:nvPr/>
        </p:nvSpPr>
        <p:spPr>
          <a:xfrm>
            <a:off x="9144000" y="3355560"/>
            <a:ext cx="7863480" cy="15818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13"/>
          <p:cNvSpPr/>
          <p:nvPr/>
        </p:nvSpPr>
        <p:spPr>
          <a:xfrm>
            <a:off x="9345240" y="2971800"/>
            <a:ext cx="7516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CONCLUSION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4"/>
          <p:cNvSpPr/>
          <p:nvPr/>
        </p:nvSpPr>
        <p:spPr>
          <a:xfrm>
            <a:off x="9345240" y="3456360"/>
            <a:ext cx="749772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repository documents the Week 1–7 progression from raw data (3,130 × 82) to a cleaned dataset (2,930 × 82), 293 engineered / encoded columns, a 40-feature selected dataset and a 175-component PCA representation retaining 95% variance. Final priority: ensure all outputs are traceable to one verified input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5"/>
          <p:cNvSpPr/>
          <p:nvPr/>
        </p:nvSpPr>
        <p:spPr>
          <a:xfrm>
            <a:off x="1097280" y="5669280"/>
            <a:ext cx="15544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1097280" y="6263640"/>
            <a:ext cx="1572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7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8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12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roup 2"/>
          <p:cNvGrpSpPr/>
          <p:nvPr/>
        </p:nvGrpSpPr>
        <p:grpSpPr>
          <a:xfrm>
            <a:off x="0" y="250560"/>
            <a:ext cx="18287640" cy="2384280"/>
            <a:chOff x="0" y="250560"/>
            <a:chExt cx="18287640" cy="2384280"/>
          </a:xfrm>
        </p:grpSpPr>
        <p:sp>
          <p:nvSpPr>
            <p:cNvPr id="298" name="Freeform 3"/>
            <p:cNvSpPr/>
            <p:nvPr/>
          </p:nvSpPr>
          <p:spPr>
            <a:xfrm>
              <a:off x="0" y="576720"/>
              <a:ext cx="18287640" cy="2058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058120"/>
                <a:gd name="textAreaBottom" fmla="*/ 2058480 h 2058120"/>
              </a:gdLst>
              <a:ahLst/>
              <a:cxnLst/>
              <a:rect l="textAreaLeft" t="textAreaTop" r="textAreaRight" b="textAreaBottom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cap="sq" w="19050">
              <a:solidFill>
                <a:srgbClr val="112D6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9" name="TextBox 4"/>
            <p:cNvSpPr/>
            <p:nvPr/>
          </p:nvSpPr>
          <p:spPr>
            <a:xfrm>
              <a:off x="0" y="250560"/>
              <a:ext cx="17728560" cy="23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00" name="TextBox 5"/>
          <p:cNvSpPr/>
          <p:nvPr/>
        </p:nvSpPr>
        <p:spPr>
          <a:xfrm>
            <a:off x="914400" y="658440"/>
            <a:ext cx="1645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249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References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5"/>
          <p:cNvSpPr/>
          <p:nvPr/>
        </p:nvSpPr>
        <p:spPr>
          <a:xfrm>
            <a:off x="941760" y="1261800"/>
            <a:ext cx="1627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300" b="0" u="none" strike="noStrike">
              <a:solidFill>
                <a:srgbClr val="E1EBF5"/>
              </a:solidFill>
              <a:effectLst/>
              <a:uFillTx/>
              <a:latin typeface="Aptos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1097280" y="2880360"/>
            <a:ext cx="15635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09800" rIns="109800" bIns="7308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Team 8 repository: https://github.com/bst4096-lab/24ADI204_DSV_Team8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Ames_Housing_Complete_Analysis_Weeks_1_to_7.ipynb (committed Week 1–7 summary and recorded outputs).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Week 7 README and Week 7 Dimensionality Reduction notebook (feature selection, PCA, explained-variance thresholds and exported datasets).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DATA-VIZ HACK-A-BIT (2026–2027), Design Competition Rule Book, 24ADI204, pp. 1–5.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pandas, NumPy, Matplotlib, Seaborn and scikit-learn documentation for the workflow libraries.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7"/>
          <p:cNvSpPr/>
          <p:nvPr/>
        </p:nvSpPr>
        <p:spPr>
          <a:xfrm>
            <a:off x="1097280" y="7424640"/>
            <a:ext cx="15635880" cy="12621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9"/>
          <p:cNvSpPr/>
          <p:nvPr/>
        </p:nvSpPr>
        <p:spPr>
          <a:xfrm>
            <a:off x="1298520" y="7040880"/>
            <a:ext cx="1528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C2B49"/>
                </a:solidFill>
                <a:effectLst/>
                <a:uFillTx/>
                <a:latin typeface="Aptos"/>
              </a:rPr>
              <a:t>REPRODUCIBILITY NOTE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0"/>
          <p:cNvSpPr/>
          <p:nvPr/>
        </p:nvSpPr>
        <p:spPr>
          <a:xfrm>
            <a:off x="1298520" y="7525440"/>
            <a:ext cx="1527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REPRODUCIBILITY NOTE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Week 7 notebook reports 175 PCs for 95% variance retention. Re-run the notebook on the selected Week 6 matrix and cite the exact raw dataset distribution/version in the final report.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1"/>
          <p:cNvSpPr/>
          <p:nvPr/>
        </p:nvSpPr>
        <p:spPr>
          <a:xfrm>
            <a:off x="502920" y="9893880"/>
            <a:ext cx="1371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24ADI204  |  DATA-VIZ HACK-A-BIT  |  TEAM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2"/>
          <p:cNvSpPr/>
          <p:nvPr/>
        </p:nvSpPr>
        <p:spPr>
          <a:xfrm>
            <a:off x="17099280" y="989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5E6B7C"/>
                </a:solidFill>
                <a:effectLst/>
                <a:uFillTx/>
                <a:latin typeface="Aptos"/>
              </a:rPr>
              <a:t>13 /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</ds:schemaRefs>
</ds:datastoreItem>
</file>

<file path=customXml/itemProps2.xml><?xml version="1.0" encoding="utf-8"?>
<ds:datastoreItem xmlns:ds="http://schemas.openxmlformats.org/officeDocument/2006/customXml" ds:itemID="{D0FDA871-35C3-49FC-BE2F-8D9ECBCC2D3E}"/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LibreOffice/26.2.6.3$Linux_X86_64 LibreOffice_project/620$Build-3</Application>
  <AppVersion>15.0000</AppVersion>
  <Words>161</Words>
  <Paragraphs>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DAHC23RksKI</dc:identifier>
  <dc:language>en-US</dc:language>
  <cp:lastModifiedBy/>
  <dcterms:modified xsi:type="dcterms:W3CDTF">2026-10-14T12:12:21Z</dcterms:modified>
  <cp:revision>101</cp:revision>
  <dc:subject/>
  <dc:title>Data Science and Visualization 24ADI204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  <property fmtid="{D5CDD505-2E9C-101B-9397-08002B2CF9AE}" pid="4" name="PresentationFormat">
    <vt:lpwstr>Custom</vt:lpwstr>
  </property>
  <property fmtid="{D5CDD505-2E9C-101B-9397-08002B2CF9AE}" pid="5" name="Slides">
    <vt:i4>13</vt:i4>
  </property>
</Properties>
</file>